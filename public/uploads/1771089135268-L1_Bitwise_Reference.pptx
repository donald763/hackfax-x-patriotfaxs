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29"/>
  </p:notesMasterIdLst>
  <p:sldIdLst>
    <p:sldId id="346" r:id="rId2"/>
    <p:sldId id="286" r:id="rId3"/>
    <p:sldId id="257" r:id="rId4"/>
    <p:sldId id="258" r:id="rId5"/>
    <p:sldId id="323" r:id="rId6"/>
    <p:sldId id="325" r:id="rId7"/>
    <p:sldId id="326" r:id="rId8"/>
    <p:sldId id="329" r:id="rId9"/>
    <p:sldId id="327" r:id="rId10"/>
    <p:sldId id="328" r:id="rId11"/>
    <p:sldId id="330" r:id="rId12"/>
    <p:sldId id="342" r:id="rId13"/>
    <p:sldId id="333" r:id="rId14"/>
    <p:sldId id="331" r:id="rId15"/>
    <p:sldId id="334" r:id="rId16"/>
    <p:sldId id="343" r:id="rId17"/>
    <p:sldId id="344" r:id="rId18"/>
    <p:sldId id="345" r:id="rId19"/>
    <p:sldId id="351" r:id="rId20"/>
    <p:sldId id="353" r:id="rId21"/>
    <p:sldId id="352" r:id="rId22"/>
    <p:sldId id="335" r:id="rId23"/>
    <p:sldId id="347" r:id="rId24"/>
    <p:sldId id="336" r:id="rId25"/>
    <p:sldId id="337" r:id="rId26"/>
    <p:sldId id="350" r:id="rId27"/>
    <p:sldId id="349" r:id="rId2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D0FC"/>
    <a:srgbClr val="DFA4DB"/>
    <a:srgbClr val="E9EBF6"/>
    <a:srgbClr val="CFD5EA"/>
    <a:srgbClr val="4272C4"/>
    <a:srgbClr val="4372C4"/>
    <a:srgbClr val="3244CC"/>
    <a:srgbClr val="2E8B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Medium Style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877" autoAdjust="0"/>
    <p:restoredTop sz="95820" autoAdjust="0"/>
  </p:normalViewPr>
  <p:slideViewPr>
    <p:cSldViewPr snapToGrid="0" snapToObjects="1">
      <p:cViewPr varScale="1">
        <p:scale>
          <a:sx n="153" d="100"/>
          <a:sy n="153" d="100"/>
        </p:scale>
        <p:origin x="1112" y="184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498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M Andrea" userId="d934b794-6e30-405d-a4e3-ef7441470742" providerId="ADAL" clId="{46137D1C-21E9-6244-B18E-64B6FB21BF2C}"/>
    <pc:docChg chg="custSel modSld">
      <pc:chgData name="Kevin M Andrea" userId="d934b794-6e30-405d-a4e3-ef7441470742" providerId="ADAL" clId="{46137D1C-21E9-6244-B18E-64B6FB21BF2C}" dt="2020-08-28T22:25:56.715" v="14" actId="20577"/>
      <pc:docMkLst>
        <pc:docMk/>
      </pc:docMkLst>
      <pc:sldChg chg="delSp mod">
        <pc:chgData name="Kevin M Andrea" userId="d934b794-6e30-405d-a4e3-ef7441470742" providerId="ADAL" clId="{46137D1C-21E9-6244-B18E-64B6FB21BF2C}" dt="2020-08-28T22:24:47.194" v="0" actId="478"/>
        <pc:sldMkLst>
          <pc:docMk/>
          <pc:sldMk cId="309439692" sldId="302"/>
        </pc:sldMkLst>
        <pc:spChg chg="del">
          <ac:chgData name="Kevin M Andrea" userId="d934b794-6e30-405d-a4e3-ef7441470742" providerId="ADAL" clId="{46137D1C-21E9-6244-B18E-64B6FB21BF2C}" dt="2020-08-28T22:24:47.194" v="0" actId="478"/>
          <ac:spMkLst>
            <pc:docMk/>
            <pc:sldMk cId="309439692" sldId="302"/>
            <ac:spMk id="7" creationId="{4C21B0A9-1480-CA46-9AC3-E2A0F5793534}"/>
          </ac:spMkLst>
        </pc:spChg>
      </pc:sldChg>
      <pc:sldChg chg="delSp mod">
        <pc:chgData name="Kevin M Andrea" userId="d934b794-6e30-405d-a4e3-ef7441470742" providerId="ADAL" clId="{46137D1C-21E9-6244-B18E-64B6FB21BF2C}" dt="2020-08-28T22:24:54.192" v="2" actId="478"/>
        <pc:sldMkLst>
          <pc:docMk/>
          <pc:sldMk cId="3969670036" sldId="330"/>
        </pc:sldMkLst>
        <pc:spChg chg="del">
          <ac:chgData name="Kevin M Andrea" userId="d934b794-6e30-405d-a4e3-ef7441470742" providerId="ADAL" clId="{46137D1C-21E9-6244-B18E-64B6FB21BF2C}" dt="2020-08-28T22:24:54.192" v="2" actId="478"/>
          <ac:spMkLst>
            <pc:docMk/>
            <pc:sldMk cId="3969670036" sldId="330"/>
            <ac:spMk id="7" creationId="{5240A1E7-0FD2-B045-BBB6-20F09F21E5D2}"/>
          </ac:spMkLst>
        </pc:spChg>
      </pc:sldChg>
      <pc:sldChg chg="delSp mod">
        <pc:chgData name="Kevin M Andrea" userId="d934b794-6e30-405d-a4e3-ef7441470742" providerId="ADAL" clId="{46137D1C-21E9-6244-B18E-64B6FB21BF2C}" dt="2020-08-28T22:24:49.153" v="1" actId="478"/>
        <pc:sldMkLst>
          <pc:docMk/>
          <pc:sldMk cId="3652219378" sldId="339"/>
        </pc:sldMkLst>
        <pc:spChg chg="del">
          <ac:chgData name="Kevin M Andrea" userId="d934b794-6e30-405d-a4e3-ef7441470742" providerId="ADAL" clId="{46137D1C-21E9-6244-B18E-64B6FB21BF2C}" dt="2020-08-28T22:24:49.153" v="1" actId="478"/>
          <ac:spMkLst>
            <pc:docMk/>
            <pc:sldMk cId="3652219378" sldId="339"/>
            <ac:spMk id="7" creationId="{4C21B0A9-1480-CA46-9AC3-E2A0F5793534}"/>
          </ac:spMkLst>
        </pc:spChg>
      </pc:sldChg>
      <pc:sldChg chg="delSp mod">
        <pc:chgData name="Kevin M Andrea" userId="d934b794-6e30-405d-a4e3-ef7441470742" providerId="ADAL" clId="{46137D1C-21E9-6244-B18E-64B6FB21BF2C}" dt="2020-08-28T22:24:56.343" v="3" actId="478"/>
        <pc:sldMkLst>
          <pc:docMk/>
          <pc:sldMk cId="150202588" sldId="342"/>
        </pc:sldMkLst>
        <pc:spChg chg="del">
          <ac:chgData name="Kevin M Andrea" userId="d934b794-6e30-405d-a4e3-ef7441470742" providerId="ADAL" clId="{46137D1C-21E9-6244-B18E-64B6FB21BF2C}" dt="2020-08-28T22:24:56.343" v="3" actId="478"/>
          <ac:spMkLst>
            <pc:docMk/>
            <pc:sldMk cId="150202588" sldId="342"/>
            <ac:spMk id="7" creationId="{5240A1E7-0FD2-B045-BBB6-20F09F21E5D2}"/>
          </ac:spMkLst>
        </pc:spChg>
      </pc:sldChg>
      <pc:sldChg chg="modSp mod">
        <pc:chgData name="Kevin M Andrea" userId="d934b794-6e30-405d-a4e3-ef7441470742" providerId="ADAL" clId="{46137D1C-21E9-6244-B18E-64B6FB21BF2C}" dt="2020-08-28T22:25:29.064" v="7" actId="20577"/>
        <pc:sldMkLst>
          <pc:docMk/>
          <pc:sldMk cId="2877251843" sldId="343"/>
        </pc:sldMkLst>
        <pc:graphicFrameChg chg="modGraphic">
          <ac:chgData name="Kevin M Andrea" userId="d934b794-6e30-405d-a4e3-ef7441470742" providerId="ADAL" clId="{46137D1C-21E9-6244-B18E-64B6FB21BF2C}" dt="2020-08-28T22:25:29.064" v="7" actId="20577"/>
          <ac:graphicFrameMkLst>
            <pc:docMk/>
            <pc:sldMk cId="2877251843" sldId="343"/>
            <ac:graphicFrameMk id="9" creationId="{25281E9F-1389-3946-ACE3-B311B8258537}"/>
          </ac:graphicFrameMkLst>
        </pc:graphicFrameChg>
      </pc:sldChg>
      <pc:sldChg chg="modSp mod">
        <pc:chgData name="Kevin M Andrea" userId="d934b794-6e30-405d-a4e3-ef7441470742" providerId="ADAL" clId="{46137D1C-21E9-6244-B18E-64B6FB21BF2C}" dt="2020-08-28T22:25:47.688" v="11" actId="20577"/>
        <pc:sldMkLst>
          <pc:docMk/>
          <pc:sldMk cId="2594621426" sldId="344"/>
        </pc:sldMkLst>
        <pc:graphicFrameChg chg="modGraphic">
          <ac:chgData name="Kevin M Andrea" userId="d934b794-6e30-405d-a4e3-ef7441470742" providerId="ADAL" clId="{46137D1C-21E9-6244-B18E-64B6FB21BF2C}" dt="2020-08-28T22:25:47.688" v="11" actId="20577"/>
          <ac:graphicFrameMkLst>
            <pc:docMk/>
            <pc:sldMk cId="2594621426" sldId="344"/>
            <ac:graphicFrameMk id="10" creationId="{EE2AB1F7-3728-F64F-8565-D64685673D51}"/>
          </ac:graphicFrameMkLst>
        </pc:graphicFrameChg>
      </pc:sldChg>
      <pc:sldChg chg="modSp mod">
        <pc:chgData name="Kevin M Andrea" userId="d934b794-6e30-405d-a4e3-ef7441470742" providerId="ADAL" clId="{46137D1C-21E9-6244-B18E-64B6FB21BF2C}" dt="2020-08-28T22:25:56.715" v="14" actId="20577"/>
        <pc:sldMkLst>
          <pc:docMk/>
          <pc:sldMk cId="3947697950" sldId="345"/>
        </pc:sldMkLst>
        <pc:graphicFrameChg chg="modGraphic">
          <ac:chgData name="Kevin M Andrea" userId="d934b794-6e30-405d-a4e3-ef7441470742" providerId="ADAL" clId="{46137D1C-21E9-6244-B18E-64B6FB21BF2C}" dt="2020-08-28T22:25:56.715" v="14" actId="20577"/>
          <ac:graphicFrameMkLst>
            <pc:docMk/>
            <pc:sldMk cId="3947697950" sldId="345"/>
            <ac:graphicFrameMk id="9" creationId="{D300B5DF-6247-A846-A7A0-2AA75E38C8E9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52F00A-244B-D843-A51E-CCC8812DE15C}" type="datetimeFigureOut">
              <a:rPr lang="en-US" smtClean="0"/>
              <a:t>8/21/23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3FF9B6-F0DF-9F44-9815-FC374C2F9B9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83927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3FF9B6-F0DF-9F44-9815-FC374C2F9B95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4390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762F8-FDF7-3F49-BF0E-5DC1AF7CB3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 b="1">
                <a:solidFill>
                  <a:srgbClr val="3244CC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02A168-97AD-DD4A-92CF-A35E0239085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965824"/>
            <a:ext cx="9144000" cy="1291975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39E6E2-EF82-D941-86CD-2255D09CA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097BD3-2764-8F41-9661-7753BCFBFD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71590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508417-CEC5-AA49-849A-314265009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1972"/>
          </a:xfrm>
        </p:spPr>
        <p:txBody>
          <a:bodyPr/>
          <a:lstStyle>
            <a:lvl1pPr>
              <a:defRPr b="1">
                <a:solidFill>
                  <a:srgbClr val="3244CC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C5EC52-64EA-8E4D-901A-AAE6C89498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0515600" cy="4909865"/>
          </a:xfrm>
        </p:spPr>
        <p:txBody>
          <a:bodyPr/>
          <a:lstStyle>
            <a:lvl1pPr marL="0" indent="0">
              <a:spcBef>
                <a:spcPts val="600"/>
              </a:spcBef>
              <a:buNone/>
              <a:defRPr b="1"/>
            </a:lvl1pPr>
            <a:lvl2pPr>
              <a:spcBef>
                <a:spcPts val="600"/>
              </a:spcBef>
              <a:defRPr/>
            </a:lvl2pPr>
            <a:lvl3pPr>
              <a:spcBef>
                <a:spcPts val="600"/>
              </a:spcBef>
              <a:defRPr/>
            </a:lvl3pPr>
            <a:lvl4pPr>
              <a:spcBef>
                <a:spcPts val="600"/>
              </a:spcBef>
              <a:defRPr/>
            </a:lvl4pPr>
            <a:lvl5pPr>
              <a:spcBef>
                <a:spcPts val="600"/>
              </a:spcBef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BEBF94-32F8-8C49-AA10-11C065485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1F534D-3CF7-B649-BC22-65CAA6D33A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4069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CF745F-3E46-9A43-995A-BA07B6D942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91E293-E2BE-6642-9E4F-8D14CA46AE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6F077F-B557-6A47-90A3-B267709D9A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71A39B-EBEE-4B4F-A380-37B7390A9E3E}" type="datetime1">
              <a:rPr lang="en-US" smtClean="0"/>
              <a:t>8/21/23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AD0FEE-966E-DA4A-BB10-87F7DE2E4F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527D3F-9486-114C-AF24-B7385BD8A7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84440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A93611-EFE3-9543-9C77-73D26A155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2C0F12-F30C-F945-B329-A287BFBE64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2BE510-8A00-524F-8B3E-F42DC15994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41AB553-F53B-C446-B8F0-61E265652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9F072C-4911-3D43-A81C-689F3044FA6D}" type="datetime1">
              <a:rPr lang="en-US" smtClean="0"/>
              <a:t>8/21/23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C4D63B-BF86-5E4B-9C38-81273A9ABA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2EF010-9544-B34D-B32C-C96808D2F3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1338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7423F4-7B4F-8448-98E7-FCC148282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2ECA3-F6BE-B74A-B8C8-C432C09595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C6DB1A8-1085-2A44-B870-DF937485F6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2939831-0C54-8E48-9BAB-DC31DD5E19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F9E00E-75D8-904C-9C0E-E14801BD0C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058E1A-604B-8C48-A8FA-91B58E85B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61ADBA-C7D0-EA46-9C38-F99F56A9DCDA}" type="datetime1">
              <a:rPr lang="en-US" smtClean="0"/>
              <a:t>8/21/23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FAF3E8-A39D-2B47-930F-736CDF0D7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A520DC-D0A2-6F4C-8821-759B9FED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7255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0FD0F-085E-F54A-8226-3C681C5E49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0A07D4-7D4D-5242-A909-2EE9DC83D0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A79BB1-BDA8-2140-8EA8-992FA56CADDC}" type="datetime1">
              <a:rPr lang="en-US" smtClean="0"/>
              <a:t>8/21/23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3823E0-91A0-174B-B601-20FA91A9E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64FA56-A626-0E43-8937-30EAFD328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09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36DF682-C647-364C-BA2F-CC5D1FFB4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B567F5-9A50-8E44-820B-779EB8CF9B9B}" type="datetime1">
              <a:rPr lang="en-US" smtClean="0"/>
              <a:t>8/21/23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A1C8A5-72B5-A843-812C-07E82530E9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DC2493-D454-514B-BB81-A237D59FD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91616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83BD43-C32F-694A-A817-02DAE4513B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6F9A69-6168-5244-B53A-136E280FEB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21404A-C36C-A84F-9600-C7B0CF569D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95ED12-53A7-134C-BE4D-12A6E4E320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376FFD-D607-AE4E-BEDF-B64E83184A56}" type="datetime1">
              <a:rPr lang="en-US" smtClean="0"/>
              <a:t>8/21/23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83C2D1-8414-DC41-B383-2DC7F30931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CCC162-1B4E-2744-BCFC-E03FDF8734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6767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4A9D17-03E9-D14A-BF6E-26B8CFC5FA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82D5579-825F-2D4A-BF9B-4C40F14F8D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9582159-5DA7-A94F-BD14-03CC07EC59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4561AA-C369-9B42-A15F-68057B501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1DDFD7-F735-7D4D-A1E6-4D817A7A8A4E}" type="datetime1">
              <a:rPr lang="en-US" smtClean="0"/>
              <a:t>8/21/23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3416AD-61F8-2C4B-8B6A-E3EB98CF0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37A1B0B-5C4F-F444-A67B-52B863B52D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09277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B046E-DB87-FC4B-9C3B-DE65667F95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7032EE-CDD8-AC43-B155-D85C9C558A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56890C-3673-7D4D-96A3-A8938D358D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619380-E581-0840-A2A7-8902802134B7}" type="datetime1">
              <a:rPr lang="en-US" smtClean="0"/>
              <a:t>8/21/23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523DE3-DFFF-B148-8868-010AB83915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3F0BBA-2BDB-044A-A22B-81BEC4E451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4971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4FE269-1A67-1945-95A7-640CBCE018A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1F39D57-BC62-004E-A053-7CB0011A2B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A0A8F4-22E5-2D4C-ADD5-BFD609418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A8522-7AFC-3142-9524-96B2B7AE69B4}" type="datetime1">
              <a:rPr lang="en-US" smtClean="0"/>
              <a:t>8/21/23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156ED1-5FC7-2F48-B1EB-4BAEB63B82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E330D7-A356-E84B-88D1-19CB22D99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38861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D4BB34-F796-B644-9BEA-9792E6E0C2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92C2375-0176-6B4F-8DF8-E3C8E7C6C0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DD82B4-9FA8-1943-9460-D5796DB57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F2FC-7521-3C4E-9386-FE06E7C09AE6}" type="datetime1">
              <a:rPr lang="en-US" smtClean="0"/>
              <a:t>8/21/23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8A6A49-D1B1-5A42-AF48-6538A82293D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39E665-5FEA-8D4F-A2C7-5D25DBE4CD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572BEAC-A941-4842-AABB-78258D38CD8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878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0D7E1-0C15-DD4A-A229-B832238656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0"/>
            <a:ext cx="12191999" cy="1673525"/>
          </a:xfrm>
        </p:spPr>
        <p:txBody>
          <a:bodyPr>
            <a:normAutofit fontScale="90000"/>
          </a:bodyPr>
          <a:lstStyle/>
          <a:p>
            <a:r>
              <a:rPr lang="en-US" dirty="0"/>
              <a:t>Computer Systems and Programming (CS367)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033D5C-38E5-DB46-B4D1-E31A1FC09A4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811548"/>
            <a:ext cx="9144000" cy="998578"/>
          </a:xfrm>
        </p:spPr>
        <p:txBody>
          <a:bodyPr>
            <a:normAutofit/>
          </a:bodyPr>
          <a:lstStyle/>
          <a:p>
            <a:r>
              <a:rPr lang="en-US" sz="3500" dirty="0"/>
              <a:t>Bits, Bytes, and Booleans</a:t>
            </a:r>
            <a:br>
              <a:rPr lang="en-US" sz="3500" dirty="0"/>
            </a:br>
            <a:r>
              <a:rPr lang="en-US" sz="2600" b="0" i="1" dirty="0">
                <a:solidFill>
                  <a:prstClr val="black"/>
                </a:solidFill>
              </a:rPr>
              <a:t>CS 110 (Bases) and CS 262 (Bitwise Operations)</a:t>
            </a:r>
            <a:endParaRPr lang="en-US" sz="3500" dirty="0"/>
          </a:p>
          <a:p>
            <a:endParaRPr lang="en-US" dirty="0"/>
          </a:p>
        </p:txBody>
      </p:sp>
      <p:pic>
        <p:nvPicPr>
          <p:cNvPr id="12" name="Picture 11" descr="Picture of Bitwise Operations in C Code being used to Read and Write to pins on an Arduino Microcontroller">
            <a:extLst>
              <a:ext uri="{FF2B5EF4-FFF2-40B4-BE49-F238E27FC236}">
                <a16:creationId xmlns:a16="http://schemas.microsoft.com/office/drawing/2014/main" id="{4EFA1B56-FF32-6034-E641-42C577C548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9163" y="2791815"/>
            <a:ext cx="7913672" cy="279057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6F85B8EF-2D19-B914-09F6-D253879C26C6}"/>
              </a:ext>
            </a:extLst>
          </p:cNvPr>
          <p:cNvSpPr txBox="1"/>
          <p:nvPr/>
        </p:nvSpPr>
        <p:spPr>
          <a:xfrm>
            <a:off x="2926511" y="5676982"/>
            <a:ext cx="60945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dirty="0"/>
              <a:t>Prof. Kevin Andrea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F085D8-2E59-F64A-B36C-A4A63CE310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7E1DF5-D01B-F441-887B-ECA7A7558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17663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C437CA-40AF-D846-8B37-04E480F094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01972"/>
          </a:xfrm>
        </p:spPr>
        <p:txBody>
          <a:bodyPr/>
          <a:lstStyle/>
          <a:p>
            <a:r>
              <a:rPr lang="en-US" dirty="0"/>
              <a:t>Reading Ahead of this Lecture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C30979-6AFB-2E4A-9C6B-BAF59A470E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0515600" cy="5225776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This Lecture covers Chapter 2.1 (Bits and Integers) and CS 222/CS262</a:t>
            </a:r>
          </a:p>
          <a:p>
            <a:endParaRPr lang="en-US" dirty="0"/>
          </a:p>
          <a:p>
            <a:r>
              <a:rPr lang="en-US" b="1" dirty="0"/>
              <a:t>Reading Homework ahead of next Lecture:</a:t>
            </a:r>
          </a:p>
          <a:p>
            <a:pPr marL="514350" indent="-514350">
              <a:buFont typeface="+mj-lt"/>
              <a:buAutoNum type="arabicPeriod"/>
            </a:pPr>
            <a:r>
              <a:rPr lang="en-US" b="1" dirty="0"/>
              <a:t>Read through Chapter 2.2-2.3 (Integer Representations)</a:t>
            </a:r>
          </a:p>
          <a:p>
            <a:pPr lvl="1" indent="0">
              <a:buNone/>
            </a:pPr>
            <a:endParaRPr lang="en-US" dirty="0"/>
          </a:p>
          <a:p>
            <a:pPr marL="457200" indent="-457200">
              <a:buFont typeface="+mj-lt"/>
              <a:buAutoNum type="arabicPeriod"/>
            </a:pPr>
            <a:r>
              <a:rPr lang="en-US" b="1" dirty="0"/>
              <a:t>Continue to Review C</a:t>
            </a:r>
          </a:p>
          <a:p>
            <a:pPr lvl="1" indent="0">
              <a:buNone/>
            </a:pPr>
            <a:r>
              <a:rPr lang="en-US" dirty="0"/>
              <a:t>This semester, you’ll be doing the following operations in </a:t>
            </a:r>
            <a:r>
              <a:rPr lang="en-US" b="1" dirty="0"/>
              <a:t>Assembly Language</a:t>
            </a:r>
          </a:p>
          <a:p>
            <a:pPr lvl="1" indent="0">
              <a:buNone/>
            </a:pPr>
            <a:r>
              <a:rPr lang="en-US" dirty="0"/>
              <a:t>	</a:t>
            </a:r>
            <a:r>
              <a:rPr lang="en-US" i="1" dirty="0"/>
              <a:t>If you know these </a:t>
            </a:r>
            <a:r>
              <a:rPr lang="en-US" b="1" i="1" dirty="0"/>
              <a:t>well</a:t>
            </a:r>
            <a:r>
              <a:rPr lang="en-US" i="1" dirty="0"/>
              <a:t> in C, it will be a </a:t>
            </a:r>
            <a:r>
              <a:rPr lang="en-US" b="1" i="1" dirty="0"/>
              <a:t>lot</a:t>
            </a:r>
            <a:r>
              <a:rPr lang="en-US" i="1" dirty="0"/>
              <a:t> easier over the next two months.</a:t>
            </a:r>
          </a:p>
          <a:p>
            <a:pPr marL="1028700" lvl="1" indent="-342900"/>
            <a:r>
              <a:rPr lang="en-US" dirty="0"/>
              <a:t>Passing by Reference and working with Pointers in functions.</a:t>
            </a:r>
          </a:p>
          <a:p>
            <a:pPr marL="1028700" lvl="1" indent="-342900"/>
            <a:r>
              <a:rPr lang="en-US" dirty="0"/>
              <a:t>Dereferencing Values			*</a:t>
            </a:r>
            <a:r>
              <a:rPr lang="en-US" dirty="0" err="1"/>
              <a:t>ptr</a:t>
            </a:r>
            <a:r>
              <a:rPr lang="en-US" dirty="0"/>
              <a:t> = 42;</a:t>
            </a:r>
          </a:p>
          <a:p>
            <a:pPr marL="1028700" lvl="1" indent="-342900"/>
            <a:r>
              <a:rPr lang="en-US" dirty="0"/>
              <a:t>Pointer Arithmetic with Arrays	*(</a:t>
            </a:r>
            <a:r>
              <a:rPr lang="en-US" dirty="0" err="1"/>
              <a:t>ary</a:t>
            </a:r>
            <a:r>
              <a:rPr lang="en-US" dirty="0"/>
              <a:t> + 3) = 42;</a:t>
            </a:r>
          </a:p>
          <a:p>
            <a:pPr marL="1028700" lvl="1" indent="-342900"/>
            <a:r>
              <a:rPr lang="en-US" dirty="0"/>
              <a:t>Working with Structs and Dynamic Memory</a:t>
            </a:r>
          </a:p>
          <a:p>
            <a:pPr marL="1028700" lvl="1" indent="-342900"/>
            <a:r>
              <a:rPr lang="en-US" dirty="0"/>
              <a:t>Working </a:t>
            </a:r>
            <a:r>
              <a:rPr lang="en-US"/>
              <a:t>with Singly Linked </a:t>
            </a:r>
            <a:r>
              <a:rPr lang="en-US" dirty="0"/>
              <a:t>Lists using Dynamically Allocated Structs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DD3753-591E-E44C-AD6F-BCA8AB2338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r>
              <a:rPr lang="en-US"/>
              <a:t>George Mason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CFA6D1-9142-E449-B961-1E1371A843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2572BEAC-A941-4842-AABB-78258D38CD8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42140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544341-66AF-4145-ADB2-F91E9AF62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0699" y="377002"/>
            <a:ext cx="11090564" cy="901972"/>
          </a:xfrm>
        </p:spPr>
        <p:txBody>
          <a:bodyPr>
            <a:normAutofit/>
          </a:bodyPr>
          <a:lstStyle/>
          <a:p>
            <a:r>
              <a:rPr lang="en-US" dirty="0"/>
              <a:t>		Bits and Bytes	(</a:t>
            </a:r>
            <a:r>
              <a:rPr lang="en-US" i="1" dirty="0"/>
              <a:t>Chapter 2.1</a:t>
            </a:r>
            <a:r>
              <a:rPr lang="en-US" dirty="0"/>
              <a:t>)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E0443-780A-D342-AE7C-60DD80B254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2BF8FD-9942-2747-B1DE-9C8F654567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3</a:t>
            </a:fld>
            <a:endParaRPr lang="en-US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77DA681-90CC-8C68-2685-9F02E08C4C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1886219"/>
              </p:ext>
            </p:extLst>
          </p:nvPr>
        </p:nvGraphicFramePr>
        <p:xfrm>
          <a:off x="1" y="1419513"/>
          <a:ext cx="12192000" cy="4774832"/>
        </p:xfrm>
        <a:graphic>
          <a:graphicData uri="http://schemas.openxmlformats.org/drawingml/2006/table">
            <a:tbl>
              <a:tblPr firstRow="1"/>
              <a:tblGrid>
                <a:gridCol w="2581835">
                  <a:extLst>
                    <a:ext uri="{9D8B030D-6E8A-4147-A177-3AD203B41FA5}">
                      <a16:colId xmlns:a16="http://schemas.microsoft.com/office/drawing/2014/main" val="150649899"/>
                    </a:ext>
                  </a:extLst>
                </a:gridCol>
                <a:gridCol w="4168589">
                  <a:extLst>
                    <a:ext uri="{9D8B030D-6E8A-4147-A177-3AD203B41FA5}">
                      <a16:colId xmlns:a16="http://schemas.microsoft.com/office/drawing/2014/main" val="325536607"/>
                    </a:ext>
                  </a:extLst>
                </a:gridCol>
                <a:gridCol w="5441576">
                  <a:extLst>
                    <a:ext uri="{9D8B030D-6E8A-4147-A177-3AD203B41FA5}">
                      <a16:colId xmlns:a16="http://schemas.microsoft.com/office/drawing/2014/main" val="862035937"/>
                    </a:ext>
                  </a:extLst>
                </a:gridCol>
              </a:tblGrid>
              <a:tr h="168440"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Learning Objective</a:t>
                      </a:r>
                    </a:p>
                  </a:txBody>
                  <a:tcPr marL="4988" marR="4988" marT="49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Task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Description of Task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25208350"/>
                  </a:ext>
                </a:extLst>
              </a:tr>
              <a:tr h="168440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Describe the Four Key Boolean Algebra Operations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Describe and Draw a Truth Table for Boolean AND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Bitwise AND when Applied to Data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66039749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Describe and Draw a Truth Table for Boolean OR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Bitwise OR when Applied to Data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9300437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Describe and Draw a Truth Table for Boolean XOR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Bitwise Exclusive-OR when Applied to Data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971599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Describe and Draw a Truth Table for Boolean Negation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Bitwise Negation when Applied to Data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1140154"/>
                  </a:ext>
                </a:extLst>
              </a:tr>
              <a:tr h="169370">
                <a:tc rowSpan="10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Perform Bitwise and Logical Operations in C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Perform a Bitwise AND on two Integers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Bitwise AND in C (&amp;)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3265523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Perform a Bitwise OR on two Integers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Bitwise OR in C (|)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09044528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Perform a Bitwise XOR on two Integers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Bitwise Exclusive-OR in C (^)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47041675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Perform a Bitwise Negation on two Integers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Bitwise Negation in C (~)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748431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Apply a Bit-Mask on to an Integer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using Bitwise AND/OR as Appropriate to Apply a Mask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8820530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Use a Bit-Mask to Extract Data from an Integer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using Bitwise AND/OR as Appropriate to Apply a Mask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53199419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Perform a Logical AND on two Statements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using Logical AND (&amp;&amp;) as a Boolean Expression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78493461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Perform a Logical OR on two Statements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using Logical OR (||) as a Boolean Expression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6875906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Perform a Logical NOT on two Statements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using Logical NOT (!) as a Boolean Expression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1742658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>
                      <a:noFill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Normalize an Integer using Logical NOT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using two Logical NOT (!!) to Normalize to 0/1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5932762"/>
                  </a:ext>
                </a:extLst>
              </a:tr>
              <a:tr h="207115">
                <a:tc rowSpan="4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Perform Arithmetic Operations on Integers by Constants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Perform Left and Right Shifts on an Integer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using &lt;&lt; and &gt;&gt; Operators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95229181"/>
                  </a:ext>
                </a:extLst>
              </a:tr>
              <a:tr h="16937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Multiply an Integer by Shifts and Arithmetic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how to Multiple by an Arbitrary Amount using &lt;&lt; , +, and -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6145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Divide an Integer Properly using Shifts and Arithmetic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how &gt;&gt; performs Floor Integer Division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9389232"/>
                  </a:ext>
                </a:extLst>
              </a:tr>
              <a:tr h="179956">
                <a:tc vMerge="1"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 </a:t>
                      </a:r>
                    </a:p>
                  </a:txBody>
                  <a:tcPr marL="4988" marR="4988" marT="4988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Describe the Dangers of Right Shifting in C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Understand that Right Shifts (&gt;&gt;) on Signed Integers is Undefined</a:t>
                      </a:r>
                    </a:p>
                  </a:txBody>
                  <a:tcPr marL="4988" marR="4988" marT="4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73927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184241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F61265-8AB6-2A45-9803-FBAB8BE057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Everything in a System is just Bits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455BDE-A9A3-0F45-8CB9-1C238DD4D5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7098"/>
            <a:ext cx="10924309" cy="4909865"/>
          </a:xfrm>
        </p:spPr>
        <p:txBody>
          <a:bodyPr>
            <a:normAutofit/>
          </a:bodyPr>
          <a:lstStyle/>
          <a:p>
            <a:r>
              <a:rPr lang="en-US" b="1" dirty="0"/>
              <a:t>Each bit is a 0 or a 1</a:t>
            </a:r>
          </a:p>
          <a:p>
            <a:r>
              <a:rPr lang="en-US" b="1" dirty="0"/>
              <a:t>By encoding / interpreting sets of bits in various ways: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Computers determine what to do (operations/instructions)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Computers represent and manipulate numbers/sets/strings/</a:t>
            </a:r>
            <a:r>
              <a:rPr lang="en-US" b="0" dirty="0" err="1"/>
              <a:t>etc</a:t>
            </a:r>
            <a:r>
              <a:rPr lang="en-US" b="0" dirty="0"/>
              <a:t> (data)</a:t>
            </a:r>
          </a:p>
          <a:p>
            <a:r>
              <a:rPr lang="en-US" b="1" dirty="0"/>
              <a:t>Why bits?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Easy to store with bistable elements (electronics)</a:t>
            </a:r>
          </a:p>
          <a:p>
            <a:endParaRPr lang="en-US" dirty="0"/>
          </a:p>
        </p:txBody>
      </p:sp>
      <p:grpSp>
        <p:nvGrpSpPr>
          <p:cNvPr id="7" name="Group 4" descr="Diagram showing electronics are stable at both 0V and at a high voltage level.">
            <a:extLst>
              <a:ext uri="{FF2B5EF4-FFF2-40B4-BE49-F238E27FC236}">
                <a16:creationId xmlns:a16="http://schemas.microsoft.com/office/drawing/2014/main" id="{8F53B595-56B4-2647-8387-6534CAA038E8}"/>
              </a:ext>
            </a:extLst>
          </p:cNvPr>
          <p:cNvGrpSpPr>
            <a:grpSpLocks/>
          </p:cNvGrpSpPr>
          <p:nvPr/>
        </p:nvGrpSpPr>
        <p:grpSpPr bwMode="auto">
          <a:xfrm>
            <a:off x="1066800" y="4274226"/>
            <a:ext cx="6858000" cy="2209800"/>
            <a:chOff x="0" y="0"/>
            <a:chExt cx="4320" cy="1392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61BCBEC8-67EC-9949-87F5-BA2E2CF9E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" y="1008"/>
              <a:ext cx="3745" cy="240"/>
            </a:xfrm>
            <a:prstGeom prst="rect">
              <a:avLst/>
            </a:prstGeom>
            <a:solidFill>
              <a:srgbClr val="00FF99"/>
            </a:solidFill>
            <a:ln w="254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9" name="Rectangle 6">
              <a:extLst>
                <a:ext uri="{FF2B5EF4-FFF2-40B4-BE49-F238E27FC236}">
                  <a16:creationId xmlns:a16="http://schemas.microsoft.com/office/drawing/2014/main" id="{2E249C35-E7B9-0B44-9F9B-A6D128055D4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5" y="384"/>
              <a:ext cx="3745" cy="240"/>
            </a:xfrm>
            <a:prstGeom prst="rect">
              <a:avLst/>
            </a:prstGeom>
            <a:solidFill>
              <a:srgbClr val="00FF99"/>
            </a:solidFill>
            <a:ln w="25400">
              <a:noFill/>
              <a:miter lim="800000"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8480A44-E0D2-724D-B621-189F4A3D95B7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484"/>
              <a:ext cx="3732" cy="716"/>
            </a:xfrm>
            <a:custGeom>
              <a:avLst/>
              <a:gdLst>
                <a:gd name="T0" fmla="*/ 0 w 21600"/>
                <a:gd name="T1" fmla="*/ 21298 h 21600"/>
                <a:gd name="T2" fmla="*/ 948 w 21600"/>
                <a:gd name="T3" fmla="*/ 19699 h 21600"/>
                <a:gd name="T4" fmla="*/ 1775 w 21600"/>
                <a:gd name="T5" fmla="*/ 19398 h 21600"/>
                <a:gd name="T6" fmla="*/ 3302 w 21600"/>
                <a:gd name="T7" fmla="*/ 20665 h 21600"/>
                <a:gd name="T8" fmla="*/ 4636 w 21600"/>
                <a:gd name="T9" fmla="*/ 19699 h 21600"/>
                <a:gd name="T10" fmla="*/ 5397 w 21600"/>
                <a:gd name="T11" fmla="*/ 19066 h 21600"/>
                <a:gd name="T12" fmla="*/ 6164 w 21600"/>
                <a:gd name="T13" fmla="*/ 20031 h 21600"/>
                <a:gd name="T14" fmla="*/ 7111 w 21600"/>
                <a:gd name="T15" fmla="*/ 20333 h 21600"/>
                <a:gd name="T16" fmla="*/ 7685 w 21600"/>
                <a:gd name="T17" fmla="*/ 20031 h 21600"/>
                <a:gd name="T18" fmla="*/ 7878 w 21600"/>
                <a:gd name="T19" fmla="*/ 19699 h 21600"/>
                <a:gd name="T20" fmla="*/ 8132 w 21600"/>
                <a:gd name="T21" fmla="*/ 17165 h 21600"/>
                <a:gd name="T22" fmla="*/ 8832 w 21600"/>
                <a:gd name="T23" fmla="*/ 7632 h 21600"/>
                <a:gd name="T24" fmla="*/ 9339 w 21600"/>
                <a:gd name="T25" fmla="*/ 3499 h 21600"/>
                <a:gd name="T26" fmla="*/ 9913 w 21600"/>
                <a:gd name="T27" fmla="*/ 1599 h 21600"/>
                <a:gd name="T28" fmla="*/ 11054 w 21600"/>
                <a:gd name="T29" fmla="*/ 634 h 21600"/>
                <a:gd name="T30" fmla="*/ 12261 w 21600"/>
                <a:gd name="T31" fmla="*/ 965 h 21600"/>
                <a:gd name="T32" fmla="*/ 12514 w 21600"/>
                <a:gd name="T33" fmla="*/ 1267 h 21600"/>
                <a:gd name="T34" fmla="*/ 13595 w 21600"/>
                <a:gd name="T35" fmla="*/ 332 h 21600"/>
                <a:gd name="T36" fmla="*/ 13975 w 21600"/>
                <a:gd name="T37" fmla="*/ 1267 h 21600"/>
                <a:gd name="T38" fmla="*/ 14422 w 21600"/>
                <a:gd name="T39" fmla="*/ 1599 h 21600"/>
                <a:gd name="T40" fmla="*/ 15436 w 21600"/>
                <a:gd name="T41" fmla="*/ 1267 h 21600"/>
                <a:gd name="T42" fmla="*/ 15817 w 21600"/>
                <a:gd name="T43" fmla="*/ 1931 h 21600"/>
                <a:gd name="T44" fmla="*/ 16390 w 21600"/>
                <a:gd name="T45" fmla="*/ 332 h 21600"/>
                <a:gd name="T46" fmla="*/ 16710 w 21600"/>
                <a:gd name="T47" fmla="*/ 0 h 21600"/>
                <a:gd name="T48" fmla="*/ 18358 w 21600"/>
                <a:gd name="T49" fmla="*/ 12399 h 21600"/>
                <a:gd name="T50" fmla="*/ 19058 w 21600"/>
                <a:gd name="T51" fmla="*/ 19398 h 21600"/>
                <a:gd name="T52" fmla="*/ 20205 w 21600"/>
                <a:gd name="T53" fmla="*/ 21600 h 21600"/>
                <a:gd name="T54" fmla="*/ 20773 w 21600"/>
                <a:gd name="T55" fmla="*/ 21298 h 21600"/>
                <a:gd name="T56" fmla="*/ 20900 w 21600"/>
                <a:gd name="T57" fmla="*/ 20333 h 21600"/>
                <a:gd name="T58" fmla="*/ 21600 w 21600"/>
                <a:gd name="T59" fmla="*/ 19699 h 21600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w 21600"/>
                <a:gd name="T91" fmla="*/ 0 h 21600"/>
                <a:gd name="T92" fmla="*/ 21600 w 21600"/>
                <a:gd name="T93" fmla="*/ 21600 h 21600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T90" t="T91" r="T92" b="T93"/>
              <a:pathLst>
                <a:path w="21600" h="21600">
                  <a:moveTo>
                    <a:pt x="0" y="21298"/>
                  </a:moveTo>
                  <a:cubicBezTo>
                    <a:pt x="326" y="20936"/>
                    <a:pt x="610" y="19820"/>
                    <a:pt x="948" y="19699"/>
                  </a:cubicBezTo>
                  <a:cubicBezTo>
                    <a:pt x="1219" y="19579"/>
                    <a:pt x="1497" y="19488"/>
                    <a:pt x="1775" y="19398"/>
                  </a:cubicBezTo>
                  <a:cubicBezTo>
                    <a:pt x="2276" y="19850"/>
                    <a:pt x="2789" y="20212"/>
                    <a:pt x="3302" y="20665"/>
                  </a:cubicBezTo>
                  <a:cubicBezTo>
                    <a:pt x="3791" y="19760"/>
                    <a:pt x="3984" y="19911"/>
                    <a:pt x="4636" y="19699"/>
                  </a:cubicBezTo>
                  <a:cubicBezTo>
                    <a:pt x="4781" y="19549"/>
                    <a:pt x="5282" y="19066"/>
                    <a:pt x="5397" y="19066"/>
                  </a:cubicBezTo>
                  <a:cubicBezTo>
                    <a:pt x="5663" y="19066"/>
                    <a:pt x="5898" y="19880"/>
                    <a:pt x="6164" y="20031"/>
                  </a:cubicBezTo>
                  <a:cubicBezTo>
                    <a:pt x="6478" y="20182"/>
                    <a:pt x="6792" y="20212"/>
                    <a:pt x="7111" y="20333"/>
                  </a:cubicBezTo>
                  <a:cubicBezTo>
                    <a:pt x="7299" y="20212"/>
                    <a:pt x="7492" y="20182"/>
                    <a:pt x="7685" y="20031"/>
                  </a:cubicBezTo>
                  <a:cubicBezTo>
                    <a:pt x="7751" y="19971"/>
                    <a:pt x="7836" y="19941"/>
                    <a:pt x="7878" y="19699"/>
                  </a:cubicBezTo>
                  <a:cubicBezTo>
                    <a:pt x="7993" y="18945"/>
                    <a:pt x="8023" y="17950"/>
                    <a:pt x="8132" y="17165"/>
                  </a:cubicBezTo>
                  <a:cubicBezTo>
                    <a:pt x="8548" y="13937"/>
                    <a:pt x="8566" y="10921"/>
                    <a:pt x="8832" y="7632"/>
                  </a:cubicBezTo>
                  <a:cubicBezTo>
                    <a:pt x="8935" y="6305"/>
                    <a:pt x="9176" y="4616"/>
                    <a:pt x="9339" y="3499"/>
                  </a:cubicBezTo>
                  <a:cubicBezTo>
                    <a:pt x="9466" y="2594"/>
                    <a:pt x="9689" y="1810"/>
                    <a:pt x="9913" y="1599"/>
                  </a:cubicBezTo>
                  <a:cubicBezTo>
                    <a:pt x="10287" y="1207"/>
                    <a:pt x="11054" y="634"/>
                    <a:pt x="11054" y="634"/>
                  </a:cubicBezTo>
                  <a:cubicBezTo>
                    <a:pt x="11452" y="724"/>
                    <a:pt x="11856" y="784"/>
                    <a:pt x="12261" y="965"/>
                  </a:cubicBezTo>
                  <a:cubicBezTo>
                    <a:pt x="12345" y="996"/>
                    <a:pt x="12424" y="1267"/>
                    <a:pt x="12514" y="1267"/>
                  </a:cubicBezTo>
                  <a:cubicBezTo>
                    <a:pt x="12859" y="1267"/>
                    <a:pt x="13245" y="603"/>
                    <a:pt x="13595" y="332"/>
                  </a:cubicBezTo>
                  <a:cubicBezTo>
                    <a:pt x="13728" y="513"/>
                    <a:pt x="13837" y="1056"/>
                    <a:pt x="13975" y="1267"/>
                  </a:cubicBezTo>
                  <a:cubicBezTo>
                    <a:pt x="14114" y="1478"/>
                    <a:pt x="14271" y="1478"/>
                    <a:pt x="14422" y="1599"/>
                  </a:cubicBezTo>
                  <a:cubicBezTo>
                    <a:pt x="14790" y="1086"/>
                    <a:pt x="15050" y="935"/>
                    <a:pt x="15436" y="1267"/>
                  </a:cubicBezTo>
                  <a:cubicBezTo>
                    <a:pt x="15563" y="1478"/>
                    <a:pt x="15684" y="2142"/>
                    <a:pt x="15817" y="1931"/>
                  </a:cubicBezTo>
                  <a:cubicBezTo>
                    <a:pt x="16022" y="1569"/>
                    <a:pt x="16173" y="543"/>
                    <a:pt x="16390" y="332"/>
                  </a:cubicBezTo>
                  <a:cubicBezTo>
                    <a:pt x="16493" y="211"/>
                    <a:pt x="16601" y="91"/>
                    <a:pt x="16710" y="0"/>
                  </a:cubicBezTo>
                  <a:cubicBezTo>
                    <a:pt x="17682" y="4857"/>
                    <a:pt x="17851" y="5038"/>
                    <a:pt x="18358" y="12399"/>
                  </a:cubicBezTo>
                  <a:cubicBezTo>
                    <a:pt x="18539" y="15023"/>
                    <a:pt x="18527" y="18010"/>
                    <a:pt x="19058" y="19398"/>
                  </a:cubicBezTo>
                  <a:cubicBezTo>
                    <a:pt x="19855" y="18674"/>
                    <a:pt x="19445" y="17799"/>
                    <a:pt x="20205" y="21600"/>
                  </a:cubicBezTo>
                  <a:cubicBezTo>
                    <a:pt x="20393" y="21479"/>
                    <a:pt x="20592" y="21600"/>
                    <a:pt x="20773" y="21298"/>
                  </a:cubicBezTo>
                  <a:cubicBezTo>
                    <a:pt x="20839" y="21147"/>
                    <a:pt x="20839" y="20544"/>
                    <a:pt x="20900" y="20333"/>
                  </a:cubicBezTo>
                  <a:cubicBezTo>
                    <a:pt x="21063" y="19669"/>
                    <a:pt x="21401" y="19699"/>
                    <a:pt x="21600" y="19699"/>
                  </a:cubicBezTo>
                </a:path>
              </a:pathLst>
            </a:cu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1" name="Line 8">
              <a:extLst>
                <a:ext uri="{FF2B5EF4-FFF2-40B4-BE49-F238E27FC236}">
                  <a16:creationId xmlns:a16="http://schemas.microsoft.com/office/drawing/2014/main" id="{90CDADB3-0434-3C45-BAAF-D40B853328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1248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2" name="Line 9">
              <a:extLst>
                <a:ext uri="{FF2B5EF4-FFF2-40B4-BE49-F238E27FC236}">
                  <a16:creationId xmlns:a16="http://schemas.microsoft.com/office/drawing/2014/main" id="{E603E6BF-4794-F647-9D22-1FB3795785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384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EB44BAB1-73F4-F143-91C2-3E1298802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1152"/>
              <a:ext cx="393" cy="240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0.0V</a:t>
              </a:r>
            </a:p>
          </p:txBody>
        </p:sp>
        <p:sp>
          <p:nvSpPr>
            <p:cNvPr id="14" name="Rectangle 11">
              <a:extLst>
                <a:ext uri="{FF2B5EF4-FFF2-40B4-BE49-F238E27FC236}">
                  <a16:creationId xmlns:a16="http://schemas.microsoft.com/office/drawing/2014/main" id="{38466667-9C9A-7846-9681-899D2CC2801E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912"/>
              <a:ext cx="397" cy="23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0.4V</a:t>
              </a:r>
            </a:p>
          </p:txBody>
        </p:sp>
        <p:sp>
          <p:nvSpPr>
            <p:cNvPr id="15" name="Rectangle 12">
              <a:extLst>
                <a:ext uri="{FF2B5EF4-FFF2-40B4-BE49-F238E27FC236}">
                  <a16:creationId xmlns:a16="http://schemas.microsoft.com/office/drawing/2014/main" id="{3A192445-57BC-9F4B-AC9F-58028B691358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528"/>
              <a:ext cx="389" cy="23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2</a:t>
              </a:r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.7V</a:t>
              </a:r>
            </a:p>
          </p:txBody>
        </p:sp>
        <p:sp>
          <p:nvSpPr>
            <p:cNvPr id="16" name="Rectangle 13">
              <a:extLst>
                <a:ext uri="{FF2B5EF4-FFF2-40B4-BE49-F238E27FC236}">
                  <a16:creationId xmlns:a16="http://schemas.microsoft.com/office/drawing/2014/main" id="{29CBC504-4057-7F46-85EC-906833825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0" y="288"/>
              <a:ext cx="397" cy="239"/>
            </a:xfrm>
            <a:prstGeom prst="rect">
              <a:avLst/>
            </a:prstGeom>
            <a:noFill/>
            <a:ln w="25400">
              <a:noFill/>
              <a:miter lim="800000"/>
              <a:headEnd/>
              <a:tailEnd/>
            </a:ln>
          </p:spPr>
          <p:txBody>
            <a:bodyPr wrap="none" lIns="50800" tIns="50800" bIns="50800">
              <a:prstTxWarp prst="textNoShape">
                <a:avLst/>
              </a:prstTxWarp>
              <a:spAutoFit/>
            </a:bodyPr>
            <a:lstStyle/>
            <a:p>
              <a:pPr eaLnBrk="1" hangingPunct="1"/>
              <a:r>
                <a:rPr lang="en-US" sz="1800" b="0" dirty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5.0V</a:t>
              </a:r>
            </a:p>
          </p:txBody>
        </p:sp>
        <p:sp>
          <p:nvSpPr>
            <p:cNvPr id="17" name="Line 14">
              <a:extLst>
                <a:ext uri="{FF2B5EF4-FFF2-40B4-BE49-F238E27FC236}">
                  <a16:creationId xmlns:a16="http://schemas.microsoft.com/office/drawing/2014/main" id="{661330DE-096B-D44C-8649-6F8EABB069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76" y="96"/>
              <a:ext cx="1392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8" name="Line 15">
              <a:extLst>
                <a:ext uri="{FF2B5EF4-FFF2-40B4-BE49-F238E27FC236}">
                  <a16:creationId xmlns:a16="http://schemas.microsoft.com/office/drawing/2014/main" id="{E9C7B225-B5F7-FE4E-BBC5-76598898D29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96"/>
              <a:ext cx="1440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19" name="Line 16">
              <a:extLst>
                <a:ext uri="{FF2B5EF4-FFF2-40B4-BE49-F238E27FC236}">
                  <a16:creationId xmlns:a16="http://schemas.microsoft.com/office/drawing/2014/main" id="{695D9975-A9C7-0040-B748-048894E442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96"/>
              <a:ext cx="480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 type="triangle" w="med" len="med"/>
              <a:tailEnd type="triangle" w="med" len="med"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0" name="Line 17">
              <a:extLst>
                <a:ext uri="{FF2B5EF4-FFF2-40B4-BE49-F238E27FC236}">
                  <a16:creationId xmlns:a16="http://schemas.microsoft.com/office/drawing/2014/main" id="{96C2179E-92A2-2D43-B069-1966320433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68" y="48"/>
              <a:ext cx="1" cy="1008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1" name="Line 18">
              <a:extLst>
                <a:ext uri="{FF2B5EF4-FFF2-40B4-BE49-F238E27FC236}">
                  <a16:creationId xmlns:a16="http://schemas.microsoft.com/office/drawing/2014/main" id="{6A773644-57D5-BC4A-A2C6-E04307826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48"/>
              <a:ext cx="1" cy="57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2" name="Line 19">
              <a:extLst>
                <a:ext uri="{FF2B5EF4-FFF2-40B4-BE49-F238E27FC236}">
                  <a16:creationId xmlns:a16="http://schemas.microsoft.com/office/drawing/2014/main" id="{96EE4D2B-B8CE-1840-A90B-DCD1CDA4CC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00" y="48"/>
              <a:ext cx="1" cy="576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3" name="Line 20">
              <a:extLst>
                <a:ext uri="{FF2B5EF4-FFF2-40B4-BE49-F238E27FC236}">
                  <a16:creationId xmlns:a16="http://schemas.microsoft.com/office/drawing/2014/main" id="{944260C7-5208-6C4E-AAFC-C0B9CD3CAE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92" y="48"/>
              <a:ext cx="1" cy="960"/>
            </a:xfrm>
            <a:prstGeom prst="line">
              <a:avLst/>
            </a:prstGeom>
            <a:noFill/>
            <a:ln w="127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4" name="Rectangle 21">
              <a:extLst>
                <a:ext uri="{FF2B5EF4-FFF2-40B4-BE49-F238E27FC236}">
                  <a16:creationId xmlns:a16="http://schemas.microsoft.com/office/drawing/2014/main" id="{91984F9D-DE9F-0D40-82EF-874CEC216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" y="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</a:t>
              </a:r>
            </a:p>
          </p:txBody>
        </p:sp>
        <p:sp>
          <p:nvSpPr>
            <p:cNvPr id="25" name="Rectangle 22">
              <a:extLst>
                <a:ext uri="{FF2B5EF4-FFF2-40B4-BE49-F238E27FC236}">
                  <a16:creationId xmlns:a16="http://schemas.microsoft.com/office/drawing/2014/main" id="{714AC37A-DF62-C84B-A81A-3B11EEDB827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0"/>
              <a:ext cx="304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1</a:t>
              </a:r>
            </a:p>
          </p:txBody>
        </p:sp>
        <p:sp>
          <p:nvSpPr>
            <p:cNvPr id="26" name="Rectangle 23">
              <a:extLst>
                <a:ext uri="{FF2B5EF4-FFF2-40B4-BE49-F238E27FC236}">
                  <a16:creationId xmlns:a16="http://schemas.microsoft.com/office/drawing/2014/main" id="{8CA98D40-7B92-544A-9E93-384662055211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6" y="0"/>
              <a:ext cx="200" cy="240"/>
            </a:xfrm>
            <a:prstGeom prst="rect">
              <a:avLst/>
            </a:prstGeom>
            <a:solidFill>
              <a:srgbClr val="FFFFFF"/>
            </a:solidFill>
            <a:ln w="25400">
              <a:noFill/>
              <a:miter lim="800000"/>
              <a:headEnd/>
              <a:tailEnd/>
            </a:ln>
          </p:spPr>
          <p:txBody>
            <a:bodyPr lIns="50800" tIns="50800" bIns="50800">
              <a:prstTxWarp prst="textNoShape">
                <a:avLst/>
              </a:prstTxWarp>
            </a:bodyPr>
            <a:lstStyle/>
            <a:p>
              <a:pPr algn="ctr" eaLnBrk="1" hangingPunct="1"/>
              <a:r>
                <a:rPr lang="en-US" sz="1800" b="0">
                  <a:solidFill>
                    <a:srgbClr val="000066"/>
                  </a:solidFill>
                  <a:latin typeface="Helvetica" charset="0"/>
                  <a:ea typeface="Helvetica" charset="0"/>
                  <a:cs typeface="Helvetica" charset="0"/>
                  <a:sym typeface="Helvetica" charset="0"/>
                </a:rPr>
                <a:t>0</a:t>
              </a:r>
            </a:p>
          </p:txBody>
        </p:sp>
        <p:sp>
          <p:nvSpPr>
            <p:cNvPr id="27" name="Line 24">
              <a:extLst>
                <a:ext uri="{FF2B5EF4-FFF2-40B4-BE49-F238E27FC236}">
                  <a16:creationId xmlns:a16="http://schemas.microsoft.com/office/drawing/2014/main" id="{99145C53-0FDC-8243-9C20-0E33366B3FF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1008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  <p:sp>
          <p:nvSpPr>
            <p:cNvPr id="28" name="Line 25">
              <a:extLst>
                <a:ext uri="{FF2B5EF4-FFF2-40B4-BE49-F238E27FC236}">
                  <a16:creationId xmlns:a16="http://schemas.microsoft.com/office/drawing/2014/main" id="{1EE069EB-CCD8-C24F-8742-0F5F1184B0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32" y="624"/>
              <a:ext cx="144" cy="1"/>
            </a:xfrm>
            <a:prstGeom prst="line">
              <a:avLst/>
            </a:prstGeom>
            <a:noFill/>
            <a:ln w="25400">
              <a:solidFill>
                <a:srgbClr val="000066"/>
              </a:solidFill>
              <a:round/>
              <a:headEnd/>
              <a:tailEnd/>
            </a:ln>
          </p:spPr>
          <p:txBody>
            <a:bodyPr lIns="0" tIns="0" rIns="0" bIns="0">
              <a:prstTxWarp prst="textNoShape">
                <a:avLst/>
              </a:prstTxWarp>
            </a:bodyPr>
            <a:lstStyle/>
            <a:p>
              <a:pPr algn="ctr" eaLnBrk="1" hangingPunct="1"/>
              <a:endParaRPr lang="en-US" sz="4200" b="0">
                <a:solidFill>
                  <a:srgbClr val="000000"/>
                </a:solidFill>
                <a:latin typeface="Gill Sans" charset="0"/>
                <a:ea typeface="ヒラギノ角ゴ ProN W3" charset="-128"/>
                <a:cs typeface="ヒラギノ角ゴ ProN W3" charset="-128"/>
                <a:sym typeface="Gill Sans" charset="0"/>
              </a:endParaRPr>
            </a:p>
          </p:txBody>
        </p:sp>
      </p:grpSp>
      <p:pic>
        <p:nvPicPr>
          <p:cNvPr id="30" name="Picture 29" descr="Diagram showing a common electronics configuration where voltages below 0.4V are logic 0 and voltages above 2.7V are logic 1.  The range between those is undefined.">
            <a:extLst>
              <a:ext uri="{FF2B5EF4-FFF2-40B4-BE49-F238E27FC236}">
                <a16:creationId xmlns:a16="http://schemas.microsoft.com/office/drawing/2014/main" id="{64D2EE06-D999-80F1-193D-AAB634182B6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0261"/>
          <a:stretch/>
        </p:blipFill>
        <p:spPr>
          <a:xfrm>
            <a:off x="9033985" y="4197370"/>
            <a:ext cx="2013427" cy="2209524"/>
          </a:xfrm>
          <a:prstGeom prst="rect">
            <a:avLst/>
          </a:prstGeom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8001BD45-B087-DEBD-FA0D-E80C90A1E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8272733" y="6621550"/>
            <a:ext cx="380851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100" i="1" dirty="0"/>
              <a:t>Image: https://learn.sparkfun.com/tutorials/logic-levels/all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BBA0D3-3E92-0240-9887-F5AFE08658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23F6C4-999B-BA4B-B6FC-00AC25DDDA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91063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09787-AC0A-084F-B924-94F6ADAD6E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Points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CA7DE75-91F9-8842-8625-C311891C3162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1E4FD4-4579-7844-89A2-5B5D0FAC63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tabLst>
                <a:tab pos="4745038" algn="l"/>
              </a:tabLst>
            </a:pPr>
            <a:r>
              <a:rPr lang="en-US" dirty="0"/>
              <a:t>It’s all about Bits and Bytes		(Examples Shown Below)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Text (ASCII/UTF-8 and Binary Files)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Images and Media Files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Network Traffic and Headers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</p:txBody>
      </p:sp>
      <p:pic>
        <p:nvPicPr>
          <p:cNvPr id="9" name="Picture 8" descr="Image showing a Flags Field (0x18) in an HTML Data Packet as an example of Bit Packing.  This 12-bit Field contains 10 Data Values within it.">
            <a:extLst>
              <a:ext uri="{FF2B5EF4-FFF2-40B4-BE49-F238E27FC236}">
                <a16:creationId xmlns:a16="http://schemas.microsoft.com/office/drawing/2014/main" id="{D3E267B9-7676-A7A6-DB43-532EAA49D0C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913" y="3149357"/>
            <a:ext cx="5691996" cy="3117299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1" name="Picture 10" descr="This image is an example of Bitpacking, showing how a PNG image is encoded.">
            <a:extLst>
              <a:ext uri="{FF2B5EF4-FFF2-40B4-BE49-F238E27FC236}">
                <a16:creationId xmlns:a16="http://schemas.microsoft.com/office/drawing/2014/main" id="{E3135275-E5EB-6311-684E-3F92CAB8DE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30196" y="2220868"/>
            <a:ext cx="5639143" cy="4045788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FF3E7ACE-BACB-A5B1-D950-1E1640A3FB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944552" y="6225545"/>
            <a:ext cx="4224787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i="1" dirty="0"/>
              <a:t>Image: https://github.com/corkami/pics/blob/master/binary/PNG.png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7AE108-54F1-894F-B610-E9A6338390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B70CB-F4C2-8F44-8A00-BE4D1A231B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7683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B4A9-F29A-954B-882C-73F0B8A5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5B0A4-5FD5-AB4A-A275-264FCD370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1124156" cy="4909865"/>
          </a:xfrm>
        </p:spPr>
        <p:txBody>
          <a:bodyPr/>
          <a:lstStyle/>
          <a:p>
            <a:r>
              <a:rPr lang="en-US" dirty="0"/>
              <a:t>Mathematical Branch of Algebra where Expressions result in True or False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All Values of Variables and Expressions are only True or False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In Computer Systems, these are denoted as:</a:t>
            </a:r>
          </a:p>
          <a:p>
            <a:pPr marL="1143000" lvl="1" indent="-457200"/>
            <a:r>
              <a:rPr lang="en-US" b="1" dirty="0"/>
              <a:t>True</a:t>
            </a:r>
            <a:r>
              <a:rPr lang="en-US" dirty="0"/>
              <a:t>: 	Non-Zero</a:t>
            </a:r>
            <a:r>
              <a:rPr lang="en-US" b="0" dirty="0"/>
              <a:t> Value</a:t>
            </a:r>
          </a:p>
          <a:p>
            <a:pPr marL="1143000" lvl="1" indent="-457200"/>
            <a:r>
              <a:rPr lang="en-US" b="1" dirty="0"/>
              <a:t>False</a:t>
            </a:r>
            <a:r>
              <a:rPr lang="en-US" dirty="0"/>
              <a:t>: 	Zero Value</a:t>
            </a:r>
          </a:p>
          <a:p>
            <a:pPr marL="457200" indent="-457200"/>
            <a:endParaRPr lang="en-US" b="0" dirty="0"/>
          </a:p>
          <a:p>
            <a:r>
              <a:rPr lang="en-US" dirty="0"/>
              <a:t>There are two Types of Boolean Operations in C: Logical and Bitwise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Logical Operations </a:t>
            </a:r>
            <a:r>
              <a:rPr lang="en-US" b="0" dirty="0"/>
              <a:t>only result in True or False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Bitwise Operations</a:t>
            </a:r>
            <a:r>
              <a:rPr lang="en-US" b="0" dirty="0"/>
              <a:t> perform Boolean operations on each pair of bits.</a:t>
            </a:r>
          </a:p>
          <a:p>
            <a:pPr marL="1143000" lvl="1" indent="-457200"/>
            <a:r>
              <a:rPr lang="en-US" dirty="0"/>
              <a:t>The final result will be a string of bits, each of which is the result of the Boolean operation on a pair of corresponding bits.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2C276-76F7-5A40-9372-05B6D858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BD8AF-184C-144A-A9AB-BAA478430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6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CFEDD-38C1-1646-9EA2-A4E15210D464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(2.1.6)</a:t>
            </a:r>
          </a:p>
        </p:txBody>
      </p:sp>
    </p:spTree>
    <p:extLst>
      <p:ext uri="{BB962C8B-B14F-4D97-AF65-F5344CB8AC3E}">
        <p14:creationId xmlns:p14="http://schemas.microsoft.com/office/powerpoint/2010/main" val="14730050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B4A9-F29A-954B-882C-73F0B8A5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 (Logical Operations)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CFEDD-38C1-1646-9EA2-A4E15210D464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(2.1.8)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5B0A4-5FD5-AB4A-A275-264FCD370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1124156" cy="4909865"/>
          </a:xfrm>
        </p:spPr>
        <p:txBody>
          <a:bodyPr/>
          <a:lstStyle/>
          <a:p>
            <a:r>
              <a:rPr lang="en-US" dirty="0"/>
              <a:t>Logical Operations </a:t>
            </a:r>
            <a:r>
              <a:rPr lang="en-US" b="0" dirty="0"/>
              <a:t>only result in True (non-zero) or False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These are performed on two variables in C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The output will be either 0 (for False) or 1 (for True)</a:t>
            </a:r>
          </a:p>
          <a:p>
            <a:pPr marL="457200" indent="-457200"/>
            <a:endParaRPr lang="en-US" b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22DDA2-D5C5-9F43-9246-76A96AD9C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410119" y="2929092"/>
            <a:ext cx="846707" cy="52322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AND</a:t>
            </a:r>
          </a:p>
        </p:txBody>
      </p:sp>
      <p:graphicFrame>
        <p:nvGraphicFramePr>
          <p:cNvPr id="19" name="Table 18" descr="A &amp;&amp; B Table.&#10;0 &amp;&amp; 0 is 0&#10;0 &amp;&amp; NonZero is 0&#10;NonZero &amp;&amp; 0 is 0&#10;NonZero &amp;&amp; NonZero is 1">
            <a:extLst>
              <a:ext uri="{FF2B5EF4-FFF2-40B4-BE49-F238E27FC236}">
                <a16:creationId xmlns:a16="http://schemas.microsoft.com/office/drawing/2014/main" id="{D9F3F8DB-5901-C547-89DD-E5C36D040E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3742876"/>
              </p:ext>
            </p:extLst>
          </p:nvPr>
        </p:nvGraphicFramePr>
        <p:xfrm>
          <a:off x="809406" y="3747569"/>
          <a:ext cx="2314359" cy="2103120"/>
        </p:xfrm>
        <a:graphic>
          <a:graphicData uri="http://schemas.openxmlformats.org/drawingml/2006/table">
            <a:tbl>
              <a:tblPr firstRow="1" bandRow="1"/>
              <a:tblGrid>
                <a:gridCol w="628183">
                  <a:extLst>
                    <a:ext uri="{9D8B030D-6E8A-4147-A177-3AD203B41FA5}">
                      <a16:colId xmlns:a16="http://schemas.microsoft.com/office/drawing/2014/main" val="3003814194"/>
                    </a:ext>
                  </a:extLst>
                </a:gridCol>
                <a:gridCol w="595120">
                  <a:extLst>
                    <a:ext uri="{9D8B030D-6E8A-4147-A177-3AD203B41FA5}">
                      <a16:colId xmlns:a16="http://schemas.microsoft.com/office/drawing/2014/main" val="2957577949"/>
                    </a:ext>
                  </a:extLst>
                </a:gridCol>
                <a:gridCol w="1091056">
                  <a:extLst>
                    <a:ext uri="{9D8B030D-6E8A-4147-A177-3AD203B41FA5}">
                      <a16:colId xmlns:a16="http://schemas.microsoft.com/office/drawing/2014/main" val="1412776238"/>
                    </a:ext>
                  </a:extLst>
                </a:gridCol>
              </a:tblGrid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A&amp;&amp;B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339232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606989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0548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157660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1613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22DADB5-F82B-C948-93FD-C6691B428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5751771" y="2929092"/>
            <a:ext cx="617477" cy="52322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OR</a:t>
            </a:r>
          </a:p>
        </p:txBody>
      </p:sp>
      <p:graphicFrame>
        <p:nvGraphicFramePr>
          <p:cNvPr id="20" name="Table 19" descr="A || B Table.&#10;0 || 0 is 0&#10;0 || NonZero is 1&#10;NonZero || 0 is 1&#10;NonZero || NonZero is 1">
            <a:extLst>
              <a:ext uri="{FF2B5EF4-FFF2-40B4-BE49-F238E27FC236}">
                <a16:creationId xmlns:a16="http://schemas.microsoft.com/office/drawing/2014/main" id="{2097BD06-7C56-5546-9B9F-FF75995B4E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9965119"/>
              </p:ext>
            </p:extLst>
          </p:nvPr>
        </p:nvGraphicFramePr>
        <p:xfrm>
          <a:off x="4903329" y="3763077"/>
          <a:ext cx="2314359" cy="2103120"/>
        </p:xfrm>
        <a:graphic>
          <a:graphicData uri="http://schemas.openxmlformats.org/drawingml/2006/table">
            <a:tbl>
              <a:tblPr firstRow="1" bandRow="1"/>
              <a:tblGrid>
                <a:gridCol w="628183">
                  <a:extLst>
                    <a:ext uri="{9D8B030D-6E8A-4147-A177-3AD203B41FA5}">
                      <a16:colId xmlns:a16="http://schemas.microsoft.com/office/drawing/2014/main" val="3003814194"/>
                    </a:ext>
                  </a:extLst>
                </a:gridCol>
                <a:gridCol w="595121">
                  <a:extLst>
                    <a:ext uri="{9D8B030D-6E8A-4147-A177-3AD203B41FA5}">
                      <a16:colId xmlns:a16="http://schemas.microsoft.com/office/drawing/2014/main" val="2957577949"/>
                    </a:ext>
                  </a:extLst>
                </a:gridCol>
                <a:gridCol w="1091055">
                  <a:extLst>
                    <a:ext uri="{9D8B030D-6E8A-4147-A177-3AD203B41FA5}">
                      <a16:colId xmlns:a16="http://schemas.microsoft.com/office/drawing/2014/main" val="1412776238"/>
                    </a:ext>
                  </a:extLst>
                </a:gridCol>
              </a:tblGrid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A||B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339232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606989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0548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157660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16137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FBB5271-139F-F349-8316-ADBFF87E6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534663" y="2929092"/>
            <a:ext cx="1343381" cy="52322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NEGATE</a:t>
            </a:r>
          </a:p>
        </p:txBody>
      </p:sp>
      <p:graphicFrame>
        <p:nvGraphicFramePr>
          <p:cNvPr id="21" name="Table 20" descr="!A Table.&#10;!0 is 1&#10;!1 is 0&#10;">
            <a:extLst>
              <a:ext uri="{FF2B5EF4-FFF2-40B4-BE49-F238E27FC236}">
                <a16:creationId xmlns:a16="http://schemas.microsoft.com/office/drawing/2014/main" id="{35BE6457-7D83-D740-99ED-1E19807C75E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3741673"/>
              </p:ext>
            </p:extLst>
          </p:nvPr>
        </p:nvGraphicFramePr>
        <p:xfrm>
          <a:off x="9545950" y="3788805"/>
          <a:ext cx="1320801" cy="1310640"/>
        </p:xfrm>
        <a:graphic>
          <a:graphicData uri="http://schemas.openxmlformats.org/drawingml/2006/table">
            <a:tbl>
              <a:tblPr firstRow="1" bandRow="1"/>
              <a:tblGrid>
                <a:gridCol w="482600">
                  <a:extLst>
                    <a:ext uri="{9D8B030D-6E8A-4147-A177-3AD203B41FA5}">
                      <a16:colId xmlns:a16="http://schemas.microsoft.com/office/drawing/2014/main" val="3003814194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1412776238"/>
                    </a:ext>
                  </a:extLst>
                </a:gridCol>
              </a:tblGrid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!A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339232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606989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161374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4651065A-A373-9D4D-A505-5BE18F569B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368441" y="5957123"/>
            <a:ext cx="361874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i="1" dirty="0"/>
              <a:t>Where </a:t>
            </a:r>
            <a:r>
              <a:rPr lang="en-US" sz="2400" b="1" i="1" dirty="0"/>
              <a:t>x</a:t>
            </a:r>
            <a:r>
              <a:rPr lang="en-US" sz="2400" i="1" dirty="0"/>
              <a:t> is a non-zero value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2C276-76F7-5A40-9372-05B6D858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BD8AF-184C-144A-A9AB-BAA478430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8384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B4A9-F29A-954B-882C-73F0B8A5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 (Logical Operations)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CFEDD-38C1-1646-9EA2-A4E15210D464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(2.1.6)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E628AEE-1CE6-904C-AE8E-09A5029E584C}"/>
              </a:ext>
            </a:extLst>
          </p:cNvPr>
          <p:cNvSpPr txBox="1"/>
          <p:nvPr/>
        </p:nvSpPr>
        <p:spPr>
          <a:xfrm>
            <a:off x="11029447" y="0"/>
            <a:ext cx="1149674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r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logic.c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5B0A4-5FD5-AB4A-A275-264FCD370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1124156" cy="5454377"/>
          </a:xfrm>
        </p:spPr>
        <p:txBody>
          <a:bodyPr>
            <a:normAutofit/>
          </a:bodyPr>
          <a:lstStyle/>
          <a:p>
            <a:r>
              <a:rPr lang="en-US" dirty="0"/>
              <a:t>Logical Operations</a:t>
            </a:r>
            <a:r>
              <a:rPr lang="en-US" b="0" dirty="0"/>
              <a:t> perform Boolean operations on each </a:t>
            </a:r>
            <a:r>
              <a:rPr lang="en-US" dirty="0"/>
              <a:t>Value</a:t>
            </a:r>
            <a:r>
              <a:rPr lang="en-US" b="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Example Operation (Logical AND) on two Byte Values as a </a:t>
            </a:r>
            <a:r>
              <a:rPr lang="en-US" u="sng" dirty="0"/>
              <a:t>Whole</a:t>
            </a:r>
          </a:p>
          <a:p>
            <a:pPr marL="457200" indent="-457200"/>
            <a:endParaRPr lang="en-US" sz="1800" b="0" dirty="0"/>
          </a:p>
          <a:p>
            <a:pPr marL="457200" indent="-457200" algn="ctr"/>
            <a:r>
              <a:rPr lang="en-US" dirty="0"/>
              <a:t>0x3C &amp;&amp; 0x95	</a:t>
            </a:r>
            <a:r>
              <a:rPr lang="en-US" b="0" dirty="0"/>
              <a:t>// &amp;&amp; is Logical AND in C</a:t>
            </a:r>
          </a:p>
          <a:p>
            <a:pPr marL="457200" indent="-457200" algn="ctr"/>
            <a:endParaRPr lang="en-US" dirty="0"/>
          </a:p>
          <a:p>
            <a:pPr marL="457200" indent="-457200" algn="ctr"/>
            <a:endParaRPr lang="en-US" dirty="0"/>
          </a:p>
          <a:p>
            <a:pPr marL="457200" indent="-457200" algn="ctr"/>
            <a:endParaRPr lang="en-US" dirty="0"/>
          </a:p>
          <a:p>
            <a:pPr marL="457200" indent="-457200" algn="ctr"/>
            <a:endParaRPr lang="en-US" dirty="0"/>
          </a:p>
          <a:p>
            <a:pPr marL="457200" indent="-457200"/>
            <a:endParaRPr lang="en-US" dirty="0"/>
          </a:p>
          <a:p>
            <a:pPr marL="457200" indent="-457200"/>
            <a:endParaRPr lang="en-US" dirty="0"/>
          </a:p>
        </p:txBody>
      </p:sp>
      <p:graphicFrame>
        <p:nvGraphicFramePr>
          <p:cNvPr id="16" name="Table 15" descr="0x3C = 00111100, which is NonZero so it is True&#10;0x95 = 10010101, which is NonZero so it is True&#10;0x3C &amp;&amp; 0x95 = 1">
            <a:extLst>
              <a:ext uri="{FF2B5EF4-FFF2-40B4-BE49-F238E27FC236}">
                <a16:creationId xmlns:a16="http://schemas.microsoft.com/office/drawing/2014/main" id="{4E96F7D3-E353-A846-8A2E-C1BFD0B8F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3124349"/>
              </p:ext>
            </p:extLst>
          </p:nvPr>
        </p:nvGraphicFramePr>
        <p:xfrm>
          <a:off x="1367598" y="3179941"/>
          <a:ext cx="9456804" cy="29565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50756">
                  <a:extLst>
                    <a:ext uri="{9D8B030D-6E8A-4147-A177-3AD203B41FA5}">
                      <a16:colId xmlns:a16="http://schemas.microsoft.com/office/drawing/2014/main" val="2909602978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2129994065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1058321264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3331572247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2733101704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3756030114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1269400469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3918507075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982658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0x3C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996016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&amp;&amp;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(True)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90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0x95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861958"/>
                  </a:ext>
                </a:extLst>
              </a:tr>
              <a:tr h="18696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==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(True)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861810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0x01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0x01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527263"/>
                  </a:ext>
                </a:extLst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(True)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27575509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D3FD7F70-0974-AC98-DFD5-AAE232D3523E}"/>
              </a:ext>
            </a:extLst>
          </p:cNvPr>
          <p:cNvSpPr txBox="1"/>
          <p:nvPr/>
        </p:nvSpPr>
        <p:spPr>
          <a:xfrm>
            <a:off x="1095765" y="6094740"/>
            <a:ext cx="928465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According to Boolean Algebra, True AND True results with True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BD8AF-184C-144A-A9AB-BAA478430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47283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B4A9-F29A-954B-882C-73F0B8A5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 (Bitwise Operations)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CFEDD-38C1-1646-9EA2-A4E15210D464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5B0A4-5FD5-AB4A-A275-264FCD370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1124156" cy="4909865"/>
          </a:xfrm>
        </p:spPr>
        <p:txBody>
          <a:bodyPr/>
          <a:lstStyle/>
          <a:p>
            <a:r>
              <a:rPr lang="en-US" dirty="0"/>
              <a:t>Bitwise Operations</a:t>
            </a:r>
            <a:r>
              <a:rPr lang="en-US" b="0" dirty="0"/>
              <a:t> perform Boolean operations on each </a:t>
            </a:r>
            <a:r>
              <a:rPr lang="en-US" dirty="0"/>
              <a:t>pair of bits</a:t>
            </a:r>
            <a:r>
              <a:rPr lang="en-US" b="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These operations are performed on each pair of corresponding bits.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The Result may be </a:t>
            </a:r>
            <a:r>
              <a:rPr lang="en-US" dirty="0"/>
              <a:t>any</a:t>
            </a:r>
            <a:r>
              <a:rPr lang="en-US" b="0" dirty="0"/>
              <a:t> legal value for the type (not just 0 or 1).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This looks at individual bits within a value, not the value as a whole.</a:t>
            </a:r>
          </a:p>
          <a:p>
            <a:pPr marL="457200" indent="-457200"/>
            <a:endParaRPr lang="en-US" b="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222DDA2-D5C5-9F43-9246-76A96AD9CB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527313" y="3392900"/>
            <a:ext cx="846707" cy="52322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AND</a:t>
            </a:r>
          </a:p>
        </p:txBody>
      </p:sp>
      <p:graphicFrame>
        <p:nvGraphicFramePr>
          <p:cNvPr id="25" name="Table 24" descr="A &amp; B Table. (AND)&#10;0 &amp; 0 is 0&#10;0 &amp; 1 is 0&#10;1 &amp; 0 is 0&#10;1 &amp; 1 is 1">
            <a:extLst>
              <a:ext uri="{FF2B5EF4-FFF2-40B4-BE49-F238E27FC236}">
                <a16:creationId xmlns:a16="http://schemas.microsoft.com/office/drawing/2014/main" id="{338E97CB-0371-8242-97F4-F93A35EE86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5651469"/>
              </p:ext>
            </p:extLst>
          </p:nvPr>
        </p:nvGraphicFramePr>
        <p:xfrm>
          <a:off x="895024" y="4114471"/>
          <a:ext cx="2111283" cy="2103120"/>
        </p:xfrm>
        <a:graphic>
          <a:graphicData uri="http://schemas.openxmlformats.org/drawingml/2006/table">
            <a:tbl>
              <a:tblPr firstRow="1" bandRow="1"/>
              <a:tblGrid>
                <a:gridCol w="573062">
                  <a:extLst>
                    <a:ext uri="{9D8B030D-6E8A-4147-A177-3AD203B41FA5}">
                      <a16:colId xmlns:a16="http://schemas.microsoft.com/office/drawing/2014/main" val="3003814194"/>
                    </a:ext>
                  </a:extLst>
                </a:gridCol>
                <a:gridCol w="542901">
                  <a:extLst>
                    <a:ext uri="{9D8B030D-6E8A-4147-A177-3AD203B41FA5}">
                      <a16:colId xmlns:a16="http://schemas.microsoft.com/office/drawing/2014/main" val="2957577949"/>
                    </a:ext>
                  </a:extLst>
                </a:gridCol>
                <a:gridCol w="995320">
                  <a:extLst>
                    <a:ext uri="{9D8B030D-6E8A-4147-A177-3AD203B41FA5}">
                      <a16:colId xmlns:a16="http://schemas.microsoft.com/office/drawing/2014/main" val="1412776238"/>
                    </a:ext>
                  </a:extLst>
                </a:gridCol>
              </a:tblGrid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A&amp;B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339232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606989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0548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157660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161374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A22DADB5-F82B-C948-93FD-C6691B4283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534832" y="3327525"/>
            <a:ext cx="617477" cy="52322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OR</a:t>
            </a:r>
          </a:p>
        </p:txBody>
      </p:sp>
      <p:graphicFrame>
        <p:nvGraphicFramePr>
          <p:cNvPr id="26" name="Table 25" descr="A | B Table. (OR)&#10;0 | 0 is 0&#10;0 | 1 is 1&#10;1 | 0 is 1&#10;1 | 1 is 1">
            <a:extLst>
              <a:ext uri="{FF2B5EF4-FFF2-40B4-BE49-F238E27FC236}">
                <a16:creationId xmlns:a16="http://schemas.microsoft.com/office/drawing/2014/main" id="{6A3CAFF1-BFB4-1042-8529-0524C4DD3F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48540753"/>
              </p:ext>
            </p:extLst>
          </p:nvPr>
        </p:nvGraphicFramePr>
        <p:xfrm>
          <a:off x="3954568" y="4114471"/>
          <a:ext cx="1778001" cy="2103120"/>
        </p:xfrm>
        <a:graphic>
          <a:graphicData uri="http://schemas.openxmlformats.org/drawingml/2006/table">
            <a:tbl>
              <a:tblPr firstRow="1" bandRow="1"/>
              <a:tblGrid>
                <a:gridCol w="482600">
                  <a:extLst>
                    <a:ext uri="{9D8B030D-6E8A-4147-A177-3AD203B41FA5}">
                      <a16:colId xmlns:a16="http://schemas.microsoft.com/office/drawing/2014/main" val="3003814194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957577949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1412776238"/>
                    </a:ext>
                  </a:extLst>
                </a:gridCol>
              </a:tblGrid>
              <a:tr h="29097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A|B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339232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606989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0548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157660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161374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2AFC62CF-5F78-FA43-8BF4-4ECF62BA99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7202760" y="3311306"/>
            <a:ext cx="793422" cy="52322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XOR</a:t>
            </a:r>
          </a:p>
        </p:txBody>
      </p:sp>
      <p:graphicFrame>
        <p:nvGraphicFramePr>
          <p:cNvPr id="28" name="Table 27" descr="A ^ B Table. (XOR)&#10;0 ^ 0 is 0&#10;0 ^ 1 is 1&#10;1 ^ 0 is 1&#10;1 ^ 1 is 0">
            <a:extLst>
              <a:ext uri="{FF2B5EF4-FFF2-40B4-BE49-F238E27FC236}">
                <a16:creationId xmlns:a16="http://schemas.microsoft.com/office/drawing/2014/main" id="{36FC2764-F3F6-5A44-8572-9C89A25898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471731"/>
              </p:ext>
            </p:extLst>
          </p:nvPr>
        </p:nvGraphicFramePr>
        <p:xfrm>
          <a:off x="6600860" y="4114471"/>
          <a:ext cx="1997222" cy="2103120"/>
        </p:xfrm>
        <a:graphic>
          <a:graphicData uri="http://schemas.openxmlformats.org/drawingml/2006/table">
            <a:tbl>
              <a:tblPr firstRow="1" bandRow="1"/>
              <a:tblGrid>
                <a:gridCol w="542103">
                  <a:extLst>
                    <a:ext uri="{9D8B030D-6E8A-4147-A177-3AD203B41FA5}">
                      <a16:colId xmlns:a16="http://schemas.microsoft.com/office/drawing/2014/main" val="3003814194"/>
                    </a:ext>
                  </a:extLst>
                </a:gridCol>
                <a:gridCol w="513571">
                  <a:extLst>
                    <a:ext uri="{9D8B030D-6E8A-4147-A177-3AD203B41FA5}">
                      <a16:colId xmlns:a16="http://schemas.microsoft.com/office/drawing/2014/main" val="2957577949"/>
                    </a:ext>
                  </a:extLst>
                </a:gridCol>
                <a:gridCol w="941548">
                  <a:extLst>
                    <a:ext uri="{9D8B030D-6E8A-4147-A177-3AD203B41FA5}">
                      <a16:colId xmlns:a16="http://schemas.microsoft.com/office/drawing/2014/main" val="1412776238"/>
                    </a:ext>
                  </a:extLst>
                </a:gridCol>
              </a:tblGrid>
              <a:tr h="0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A^B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339232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606989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890548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3157660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161374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DFBB5271-139F-F349-8316-ADBFF87E67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9151547" y="3306598"/>
            <a:ext cx="2071273" cy="523220"/>
          </a:xfrm>
          <a:prstGeom prst="rect">
            <a:avLst/>
          </a:prstGeom>
          <a:solidFill>
            <a:schemeClr val="accent2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ctr"/>
            <a:r>
              <a:rPr lang="en-US" sz="2800" dirty="0"/>
              <a:t>Complement</a:t>
            </a:r>
          </a:p>
        </p:txBody>
      </p:sp>
      <p:graphicFrame>
        <p:nvGraphicFramePr>
          <p:cNvPr id="27" name="Table 26" descr="~A Table. (Complement)&#10;~0 is 1&#10;~1 is 0">
            <a:extLst>
              <a:ext uri="{FF2B5EF4-FFF2-40B4-BE49-F238E27FC236}">
                <a16:creationId xmlns:a16="http://schemas.microsoft.com/office/drawing/2014/main" id="{AD2FA6CD-766A-DE4D-A355-2571F4ACFFC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82441947"/>
              </p:ext>
            </p:extLst>
          </p:nvPr>
        </p:nvGraphicFramePr>
        <p:xfrm>
          <a:off x="9526780" y="4114471"/>
          <a:ext cx="1320801" cy="1310640"/>
        </p:xfrm>
        <a:graphic>
          <a:graphicData uri="http://schemas.openxmlformats.org/drawingml/2006/table">
            <a:tbl>
              <a:tblPr firstRow="1" bandRow="1"/>
              <a:tblGrid>
                <a:gridCol w="482600">
                  <a:extLst>
                    <a:ext uri="{9D8B030D-6E8A-4147-A177-3AD203B41FA5}">
                      <a16:colId xmlns:a16="http://schemas.microsoft.com/office/drawing/2014/main" val="3003814194"/>
                    </a:ext>
                  </a:extLst>
                </a:gridCol>
                <a:gridCol w="838201">
                  <a:extLst>
                    <a:ext uri="{9D8B030D-6E8A-4147-A177-3AD203B41FA5}">
                      <a16:colId xmlns:a16="http://schemas.microsoft.com/office/drawing/2014/main" val="1412776238"/>
                    </a:ext>
                  </a:extLst>
                </a:gridCol>
              </a:tblGrid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>
                          <a:solidFill>
                            <a:schemeClr val="tx1"/>
                          </a:solidFill>
                        </a:rPr>
                        <a:t>A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800" dirty="0">
                          <a:solidFill>
                            <a:schemeClr val="tx1"/>
                          </a:solidFill>
                        </a:rPr>
                        <a:t>~A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8339232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4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5606989"/>
                  </a:ext>
                </a:extLst>
              </a:tr>
              <a:tr h="282397"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Arial"/>
                        </a:defRPr>
                      </a:lvl9pPr>
                    </a:lstStyle>
                    <a:p>
                      <a:pPr algn="ctr"/>
                      <a:r>
                        <a:rPr lang="en-US" sz="20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FF">
                        <a:tint val="20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91161374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2C276-76F7-5A40-9372-05B6D858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BD8AF-184C-144A-A9AB-BAA478430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5897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2B4A9-F29A-954B-882C-73F0B8A59A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Boolean Algebra (Bitwise Operations)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A5B0A4-5FD5-AB4A-A275-264FCD370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1124156" cy="5359170"/>
          </a:xfrm>
        </p:spPr>
        <p:txBody>
          <a:bodyPr>
            <a:normAutofit/>
          </a:bodyPr>
          <a:lstStyle/>
          <a:p>
            <a:r>
              <a:rPr lang="en-US" dirty="0"/>
              <a:t>Bitwise Operations</a:t>
            </a:r>
            <a:r>
              <a:rPr lang="en-US" b="0" dirty="0"/>
              <a:t> perform Boolean operations on each </a:t>
            </a:r>
            <a:r>
              <a:rPr lang="en-US" dirty="0"/>
              <a:t>pair of bits</a:t>
            </a:r>
            <a:r>
              <a:rPr lang="en-US" b="0" dirty="0"/>
              <a:t>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These operations are performed on each pair of corresponding bits.</a:t>
            </a:r>
          </a:p>
          <a:p>
            <a:pPr marL="457200" indent="-457200"/>
            <a:endParaRPr lang="en-US" b="0" dirty="0"/>
          </a:p>
          <a:p>
            <a:pPr marL="457200" indent="-457200" algn="ctr"/>
            <a:r>
              <a:rPr lang="en-US" dirty="0"/>
              <a:t>0x3C &amp; 0x95	</a:t>
            </a:r>
            <a:r>
              <a:rPr lang="en-US" b="0" dirty="0"/>
              <a:t>// &amp; is Bitwise AND in C</a:t>
            </a:r>
          </a:p>
          <a:p>
            <a:pPr marL="457200" indent="-457200" algn="ctr"/>
            <a:endParaRPr lang="en-US" dirty="0"/>
          </a:p>
          <a:p>
            <a:pPr marL="457200" indent="-457200" algn="ctr"/>
            <a:endParaRPr lang="en-US" dirty="0"/>
          </a:p>
          <a:p>
            <a:pPr marL="457200" indent="-457200" algn="ctr"/>
            <a:endParaRPr lang="en-US" dirty="0"/>
          </a:p>
          <a:p>
            <a:pPr marL="457200" indent="-457200" algn="ctr"/>
            <a:endParaRPr lang="en-US" dirty="0"/>
          </a:p>
          <a:p>
            <a:pPr marL="457200" indent="-457200"/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82C276-76F7-5A40-9372-05B6D858E1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BD8AF-184C-144A-A9AB-BAA478430D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10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4CFEDD-38C1-1646-9EA2-A4E15210D464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(2.1.8)</a:t>
            </a:r>
          </a:p>
        </p:txBody>
      </p:sp>
      <p:graphicFrame>
        <p:nvGraphicFramePr>
          <p:cNvPr id="16" name="Table 15" descr="0x3C = 00111100&#10;0x95 = 10010101&#10;Every pair of corresponding bits are AND with each other.&#10;The result of this is 0x14 = 00010100">
            <a:extLst>
              <a:ext uri="{FF2B5EF4-FFF2-40B4-BE49-F238E27FC236}">
                <a16:creationId xmlns:a16="http://schemas.microsoft.com/office/drawing/2014/main" id="{4E96F7D3-E353-A846-8A2E-C1BFD0B8F0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3534807"/>
              </p:ext>
            </p:extLst>
          </p:nvPr>
        </p:nvGraphicFramePr>
        <p:xfrm>
          <a:off x="1367598" y="3429000"/>
          <a:ext cx="9456804" cy="22910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050756">
                  <a:extLst>
                    <a:ext uri="{9D8B030D-6E8A-4147-A177-3AD203B41FA5}">
                      <a16:colId xmlns:a16="http://schemas.microsoft.com/office/drawing/2014/main" val="2909602978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2129994065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1058321264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3331572247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2733101704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3756030114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1269400469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3918507075"/>
                    </a:ext>
                  </a:extLst>
                </a:gridCol>
                <a:gridCol w="1050756">
                  <a:extLst>
                    <a:ext uri="{9D8B030D-6E8A-4147-A177-3AD203B41FA5}">
                      <a16:colId xmlns:a16="http://schemas.microsoft.com/office/drawing/2014/main" val="98265898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0x3C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99960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&amp;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43900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E9EB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0x95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3861958"/>
                  </a:ext>
                </a:extLst>
              </a:tr>
              <a:tr h="186960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↓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↓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↓</a:t>
                      </a:r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↓</a:t>
                      </a:r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↓</a:t>
                      </a:r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↓</a:t>
                      </a:r>
                      <a:endParaRPr lang="en-US" sz="1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↓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cs typeface="Courier New" panose="02070309020205020404" pitchFamily="49" charset="0"/>
                        </a:rPr>
                        <a:t>↓</a:t>
                      </a:r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38618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0x14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4527263"/>
                  </a:ext>
                </a:extLst>
              </a:tr>
            </a:tbl>
          </a:graphicData>
        </a:graphic>
      </p:graphicFrame>
      <p:sp>
        <p:nvSpPr>
          <p:cNvPr id="17" name="TextBox 16">
            <a:extLst>
              <a:ext uri="{FF2B5EF4-FFF2-40B4-BE49-F238E27FC236}">
                <a16:creationId xmlns:a16="http://schemas.microsoft.com/office/drawing/2014/main" id="{4A9574A6-58D0-054D-8225-9E293C1973DF}"/>
              </a:ext>
            </a:extLst>
          </p:cNvPr>
          <p:cNvSpPr txBox="1"/>
          <p:nvPr/>
        </p:nvSpPr>
        <p:spPr>
          <a:xfrm>
            <a:off x="10753730" y="0"/>
            <a:ext cx="1425391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r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bitwise.c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852093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24298-4AB8-5C48-914D-D28D607C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Boolean Expressions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6A1148-2966-754C-B0CB-DCFA957FF018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B496-F622-C244-95D6-DA57C560A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9"/>
            <a:ext cx="10782300" cy="1005950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What are the results of the following expressions as an 8-bit Hex value?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13834D-19F1-2A4A-9C9E-17BC50417DC7}"/>
              </a:ext>
            </a:extLst>
          </p:cNvPr>
          <p:cNvSpPr txBox="1"/>
          <p:nvPr/>
        </p:nvSpPr>
        <p:spPr>
          <a:xfrm>
            <a:off x="2501617" y="3024461"/>
            <a:ext cx="2403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= 0x49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B7E288-D39C-3C77-BB72-64E71E6A5304}"/>
              </a:ext>
            </a:extLst>
          </p:cNvPr>
          <p:cNvSpPr txBox="1"/>
          <p:nvPr/>
        </p:nvSpPr>
        <p:spPr>
          <a:xfrm>
            <a:off x="2501617" y="3591522"/>
            <a:ext cx="2472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= 0x55</a:t>
            </a:r>
          </a:p>
        </p:txBody>
      </p:sp>
      <p:grpSp>
        <p:nvGrpSpPr>
          <p:cNvPr id="7" name="Group 6" descr="What is A AND B?">
            <a:extLst>
              <a:ext uri="{FF2B5EF4-FFF2-40B4-BE49-F238E27FC236}">
                <a16:creationId xmlns:a16="http://schemas.microsoft.com/office/drawing/2014/main" id="{34726C5D-A749-15FC-D218-10F5940D5895}"/>
              </a:ext>
            </a:extLst>
          </p:cNvPr>
          <p:cNvGrpSpPr/>
          <p:nvPr/>
        </p:nvGrpSpPr>
        <p:grpSpPr>
          <a:xfrm>
            <a:off x="6726413" y="2405578"/>
            <a:ext cx="4178175" cy="701796"/>
            <a:chOff x="6726413" y="2405578"/>
            <a:chExt cx="4178175" cy="701796"/>
          </a:xfrm>
        </p:grpSpPr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BDD06A0-9FC0-E14A-96A5-E00E5C9BC8CC}"/>
                </a:ext>
              </a:extLst>
            </p:cNvPr>
            <p:cNvSpPr/>
            <p:nvPr/>
          </p:nvSpPr>
          <p:spPr>
            <a:xfrm>
              <a:off x="7909506" y="2405578"/>
              <a:ext cx="2995082" cy="7017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E74C9DA-0227-8B4D-AE4A-4E0D86977414}"/>
                </a:ext>
              </a:extLst>
            </p:cNvPr>
            <p:cNvSpPr txBox="1"/>
            <p:nvPr/>
          </p:nvSpPr>
          <p:spPr>
            <a:xfrm>
              <a:off x="6726413" y="2500236"/>
              <a:ext cx="9252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A&amp;B</a:t>
              </a:r>
            </a:p>
          </p:txBody>
        </p:sp>
      </p:grpSp>
      <p:grpSp>
        <p:nvGrpSpPr>
          <p:cNvPr id="9" name="Group 8" descr="What is A OR B?">
            <a:extLst>
              <a:ext uri="{FF2B5EF4-FFF2-40B4-BE49-F238E27FC236}">
                <a16:creationId xmlns:a16="http://schemas.microsoft.com/office/drawing/2014/main" id="{0055F8A6-9C5B-5EB0-08FE-F63B53795D47}"/>
              </a:ext>
            </a:extLst>
          </p:cNvPr>
          <p:cNvGrpSpPr/>
          <p:nvPr/>
        </p:nvGrpSpPr>
        <p:grpSpPr>
          <a:xfrm>
            <a:off x="6726413" y="3152100"/>
            <a:ext cx="4178175" cy="701796"/>
            <a:chOff x="6726413" y="3152100"/>
            <a:chExt cx="4178175" cy="701796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23C0F9E-7815-D040-BEFE-2F9DB13E8A4C}"/>
                </a:ext>
              </a:extLst>
            </p:cNvPr>
            <p:cNvSpPr/>
            <p:nvPr/>
          </p:nvSpPr>
          <p:spPr>
            <a:xfrm>
              <a:off x="7909506" y="3152100"/>
              <a:ext cx="2995082" cy="7017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B3253E1D-4933-BE41-983B-3907B2D775A4}"/>
                </a:ext>
              </a:extLst>
            </p:cNvPr>
            <p:cNvSpPr txBox="1"/>
            <p:nvPr/>
          </p:nvSpPr>
          <p:spPr>
            <a:xfrm>
              <a:off x="6726413" y="3246758"/>
              <a:ext cx="9252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A|B</a:t>
              </a:r>
            </a:p>
          </p:txBody>
        </p:sp>
      </p:grpSp>
      <p:grpSp>
        <p:nvGrpSpPr>
          <p:cNvPr id="10" name="Group 9" descr="What is A XOR B?">
            <a:extLst>
              <a:ext uri="{FF2B5EF4-FFF2-40B4-BE49-F238E27FC236}">
                <a16:creationId xmlns:a16="http://schemas.microsoft.com/office/drawing/2014/main" id="{98C1568E-5162-42D2-1413-DD02BEAB0193}"/>
              </a:ext>
            </a:extLst>
          </p:cNvPr>
          <p:cNvGrpSpPr/>
          <p:nvPr/>
        </p:nvGrpSpPr>
        <p:grpSpPr>
          <a:xfrm>
            <a:off x="6726413" y="3914688"/>
            <a:ext cx="4178175" cy="701796"/>
            <a:chOff x="6726413" y="3914688"/>
            <a:chExt cx="4178175" cy="701796"/>
          </a:xfrm>
        </p:grpSpPr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D53AE61-88AF-8248-BFA2-2B321182AB67}"/>
                </a:ext>
              </a:extLst>
            </p:cNvPr>
            <p:cNvSpPr/>
            <p:nvPr/>
          </p:nvSpPr>
          <p:spPr>
            <a:xfrm>
              <a:off x="7909506" y="3914688"/>
              <a:ext cx="2995082" cy="7017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93764B7C-BE89-EA46-9153-51C798465B85}"/>
                </a:ext>
              </a:extLst>
            </p:cNvPr>
            <p:cNvSpPr txBox="1"/>
            <p:nvPr/>
          </p:nvSpPr>
          <p:spPr>
            <a:xfrm>
              <a:off x="6726413" y="4009346"/>
              <a:ext cx="92525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A^B</a:t>
              </a:r>
            </a:p>
          </p:txBody>
        </p:sp>
      </p:grpSp>
      <p:grpSp>
        <p:nvGrpSpPr>
          <p:cNvPr id="11" name="Group 10" descr="What is Complement B?">
            <a:extLst>
              <a:ext uri="{FF2B5EF4-FFF2-40B4-BE49-F238E27FC236}">
                <a16:creationId xmlns:a16="http://schemas.microsoft.com/office/drawing/2014/main" id="{7ACF5893-2A4B-2C99-13BA-169D388BDD10}"/>
              </a:ext>
            </a:extLst>
          </p:cNvPr>
          <p:cNvGrpSpPr/>
          <p:nvPr/>
        </p:nvGrpSpPr>
        <p:grpSpPr>
          <a:xfrm>
            <a:off x="6973275" y="4691618"/>
            <a:ext cx="3931313" cy="701796"/>
            <a:chOff x="6973275" y="4691618"/>
            <a:chExt cx="3931313" cy="701796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E6D71767-9A0B-2B45-9A18-DA35FED4B7B0}"/>
                </a:ext>
              </a:extLst>
            </p:cNvPr>
            <p:cNvSpPr/>
            <p:nvPr/>
          </p:nvSpPr>
          <p:spPr>
            <a:xfrm>
              <a:off x="7909506" y="4691618"/>
              <a:ext cx="2995082" cy="701796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65B7B90-A3C0-A94F-BAFF-6A1DC7CC294E}"/>
                </a:ext>
              </a:extLst>
            </p:cNvPr>
            <p:cNvSpPr txBox="1"/>
            <p:nvPr/>
          </p:nvSpPr>
          <p:spPr>
            <a:xfrm>
              <a:off x="6973275" y="4803927"/>
              <a:ext cx="678391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3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~B</a:t>
              </a:r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3F674-36FF-9640-BAB3-5C819FE5F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5147E-C069-D245-B07B-4C2BC6E1A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96700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24298-4AB8-5C48-914D-D28D607C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 Boolean Expressions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6A1148-2966-754C-B0CB-DCFA957FF018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(2.1.6)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B496-F622-C244-95D6-DA57C560A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9"/>
            <a:ext cx="10782300" cy="1063346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dirty="0"/>
              <a:t>What are the results of the following expressions as an 8-bit Hex value?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0F862873-C4BB-6E4A-58FC-CF3F8F8ADBD1}"/>
              </a:ext>
            </a:extLst>
          </p:cNvPr>
          <p:cNvSpPr txBox="1"/>
          <p:nvPr/>
        </p:nvSpPr>
        <p:spPr>
          <a:xfrm>
            <a:off x="2501617" y="3024461"/>
            <a:ext cx="24032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A = 0x49</a:t>
            </a:r>
          </a:p>
        </p:txBody>
      </p:sp>
      <p:graphicFrame>
        <p:nvGraphicFramePr>
          <p:cNvPr id="25" name="Table 24" descr="0x49 is 01001001 in Binary">
            <a:extLst>
              <a:ext uri="{FF2B5EF4-FFF2-40B4-BE49-F238E27FC236}">
                <a16:creationId xmlns:a16="http://schemas.microsoft.com/office/drawing/2014/main" id="{D6D23BDA-389E-0746-A762-90470928A9C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216478"/>
              </p:ext>
            </p:extLst>
          </p:nvPr>
        </p:nvGraphicFramePr>
        <p:xfrm>
          <a:off x="75904" y="3805626"/>
          <a:ext cx="6429203" cy="518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05034">
                  <a:extLst>
                    <a:ext uri="{9D8B030D-6E8A-4147-A177-3AD203B41FA5}">
                      <a16:colId xmlns:a16="http://schemas.microsoft.com/office/drawing/2014/main" val="2909602978"/>
                    </a:ext>
                  </a:extLst>
                </a:gridCol>
                <a:gridCol w="805034">
                  <a:extLst>
                    <a:ext uri="{9D8B030D-6E8A-4147-A177-3AD203B41FA5}">
                      <a16:colId xmlns:a16="http://schemas.microsoft.com/office/drawing/2014/main" val="2129994065"/>
                    </a:ext>
                  </a:extLst>
                </a:gridCol>
                <a:gridCol w="805034">
                  <a:extLst>
                    <a:ext uri="{9D8B030D-6E8A-4147-A177-3AD203B41FA5}">
                      <a16:colId xmlns:a16="http://schemas.microsoft.com/office/drawing/2014/main" val="1058321264"/>
                    </a:ext>
                  </a:extLst>
                </a:gridCol>
                <a:gridCol w="805034">
                  <a:extLst>
                    <a:ext uri="{9D8B030D-6E8A-4147-A177-3AD203B41FA5}">
                      <a16:colId xmlns:a16="http://schemas.microsoft.com/office/drawing/2014/main" val="3331572247"/>
                    </a:ext>
                  </a:extLst>
                </a:gridCol>
                <a:gridCol w="793965">
                  <a:extLst>
                    <a:ext uri="{9D8B030D-6E8A-4147-A177-3AD203B41FA5}">
                      <a16:colId xmlns:a16="http://schemas.microsoft.com/office/drawing/2014/main" val="2733101704"/>
                    </a:ext>
                  </a:extLst>
                </a:gridCol>
                <a:gridCol w="805034">
                  <a:extLst>
                    <a:ext uri="{9D8B030D-6E8A-4147-A177-3AD203B41FA5}">
                      <a16:colId xmlns:a16="http://schemas.microsoft.com/office/drawing/2014/main" val="3756030114"/>
                    </a:ext>
                  </a:extLst>
                </a:gridCol>
                <a:gridCol w="805034">
                  <a:extLst>
                    <a:ext uri="{9D8B030D-6E8A-4147-A177-3AD203B41FA5}">
                      <a16:colId xmlns:a16="http://schemas.microsoft.com/office/drawing/2014/main" val="1269400469"/>
                    </a:ext>
                  </a:extLst>
                </a:gridCol>
                <a:gridCol w="805034">
                  <a:extLst>
                    <a:ext uri="{9D8B030D-6E8A-4147-A177-3AD203B41FA5}">
                      <a16:colId xmlns:a16="http://schemas.microsoft.com/office/drawing/2014/main" val="3918507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996016"/>
                  </a:ext>
                </a:extLst>
              </a:tr>
            </a:tbl>
          </a:graphicData>
        </a:graphic>
      </p:graphicFrame>
      <p:sp>
        <p:nvSpPr>
          <p:cNvPr id="30" name="TextBox 29">
            <a:extLst>
              <a:ext uri="{FF2B5EF4-FFF2-40B4-BE49-F238E27FC236}">
                <a16:creationId xmlns:a16="http://schemas.microsoft.com/office/drawing/2014/main" id="{FCDDD549-4D5E-7764-718D-33A9928C717E}"/>
              </a:ext>
            </a:extLst>
          </p:cNvPr>
          <p:cNvSpPr txBox="1"/>
          <p:nvPr/>
        </p:nvSpPr>
        <p:spPr>
          <a:xfrm>
            <a:off x="2466903" y="4449983"/>
            <a:ext cx="247265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600" b="1" dirty="0">
                <a:latin typeface="Courier New" panose="02070309020205020404" pitchFamily="49" charset="0"/>
                <a:cs typeface="Courier New" panose="02070309020205020404" pitchFamily="49" charset="0"/>
              </a:rPr>
              <a:t>B = 0x55</a:t>
            </a:r>
          </a:p>
        </p:txBody>
      </p:sp>
      <p:graphicFrame>
        <p:nvGraphicFramePr>
          <p:cNvPr id="26" name="Table 25" descr="0x55 is 01010101 in Binary">
            <a:extLst>
              <a:ext uri="{FF2B5EF4-FFF2-40B4-BE49-F238E27FC236}">
                <a16:creationId xmlns:a16="http://schemas.microsoft.com/office/drawing/2014/main" id="{0E67B7A3-B0AE-874B-A4EE-39AAB8F919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5421581"/>
              </p:ext>
            </p:extLst>
          </p:nvPr>
        </p:nvGraphicFramePr>
        <p:xfrm>
          <a:off x="88330" y="5129622"/>
          <a:ext cx="6429203" cy="51816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805034">
                  <a:extLst>
                    <a:ext uri="{9D8B030D-6E8A-4147-A177-3AD203B41FA5}">
                      <a16:colId xmlns:a16="http://schemas.microsoft.com/office/drawing/2014/main" val="2909602978"/>
                    </a:ext>
                  </a:extLst>
                </a:gridCol>
                <a:gridCol w="805034">
                  <a:extLst>
                    <a:ext uri="{9D8B030D-6E8A-4147-A177-3AD203B41FA5}">
                      <a16:colId xmlns:a16="http://schemas.microsoft.com/office/drawing/2014/main" val="2129994065"/>
                    </a:ext>
                  </a:extLst>
                </a:gridCol>
                <a:gridCol w="805034">
                  <a:extLst>
                    <a:ext uri="{9D8B030D-6E8A-4147-A177-3AD203B41FA5}">
                      <a16:colId xmlns:a16="http://schemas.microsoft.com/office/drawing/2014/main" val="1058321264"/>
                    </a:ext>
                  </a:extLst>
                </a:gridCol>
                <a:gridCol w="805034">
                  <a:extLst>
                    <a:ext uri="{9D8B030D-6E8A-4147-A177-3AD203B41FA5}">
                      <a16:colId xmlns:a16="http://schemas.microsoft.com/office/drawing/2014/main" val="3331572247"/>
                    </a:ext>
                  </a:extLst>
                </a:gridCol>
                <a:gridCol w="793965">
                  <a:extLst>
                    <a:ext uri="{9D8B030D-6E8A-4147-A177-3AD203B41FA5}">
                      <a16:colId xmlns:a16="http://schemas.microsoft.com/office/drawing/2014/main" val="2733101704"/>
                    </a:ext>
                  </a:extLst>
                </a:gridCol>
                <a:gridCol w="805034">
                  <a:extLst>
                    <a:ext uri="{9D8B030D-6E8A-4147-A177-3AD203B41FA5}">
                      <a16:colId xmlns:a16="http://schemas.microsoft.com/office/drawing/2014/main" val="3756030114"/>
                    </a:ext>
                  </a:extLst>
                </a:gridCol>
                <a:gridCol w="805034">
                  <a:extLst>
                    <a:ext uri="{9D8B030D-6E8A-4147-A177-3AD203B41FA5}">
                      <a16:colId xmlns:a16="http://schemas.microsoft.com/office/drawing/2014/main" val="1269400469"/>
                    </a:ext>
                  </a:extLst>
                </a:gridCol>
                <a:gridCol w="805034">
                  <a:extLst>
                    <a:ext uri="{9D8B030D-6E8A-4147-A177-3AD203B41FA5}">
                      <a16:colId xmlns:a16="http://schemas.microsoft.com/office/drawing/2014/main" val="391850707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9996016"/>
                  </a:ext>
                </a:extLst>
              </a:tr>
            </a:tbl>
          </a:graphicData>
        </a:graphic>
      </p:graphicFrame>
      <p:grpSp>
        <p:nvGrpSpPr>
          <p:cNvPr id="11" name="Group 10" descr="A AND B = 0x41">
            <a:extLst>
              <a:ext uri="{FF2B5EF4-FFF2-40B4-BE49-F238E27FC236}">
                <a16:creationId xmlns:a16="http://schemas.microsoft.com/office/drawing/2014/main" id="{4CCF3905-70C6-7ECE-C3AF-F7A88689A022}"/>
              </a:ext>
            </a:extLst>
          </p:cNvPr>
          <p:cNvGrpSpPr/>
          <p:nvPr/>
        </p:nvGrpSpPr>
        <p:grpSpPr>
          <a:xfrm>
            <a:off x="6726413" y="2405578"/>
            <a:ext cx="4178175" cy="701796"/>
            <a:chOff x="6726413" y="2405578"/>
            <a:chExt cx="4178175" cy="701796"/>
          </a:xfrm>
        </p:grpSpPr>
        <p:grpSp>
          <p:nvGrpSpPr>
            <p:cNvPr id="4" name="Group 3" descr="A AND B = 0x41">
              <a:extLst>
                <a:ext uri="{FF2B5EF4-FFF2-40B4-BE49-F238E27FC236}">
                  <a16:creationId xmlns:a16="http://schemas.microsoft.com/office/drawing/2014/main" id="{D16072F4-835C-C1D5-DB13-6B189FD9BA00}"/>
                </a:ext>
              </a:extLst>
            </p:cNvPr>
            <p:cNvGrpSpPr/>
            <p:nvPr/>
          </p:nvGrpSpPr>
          <p:grpSpPr>
            <a:xfrm>
              <a:off x="6726413" y="2405578"/>
              <a:ext cx="4178175" cy="701796"/>
              <a:chOff x="6726413" y="2405578"/>
              <a:chExt cx="4178175" cy="701796"/>
            </a:xfrm>
          </p:grpSpPr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ABDD06A0-9FC0-E14A-96A5-E00E5C9BC8CC}"/>
                  </a:ext>
                </a:extLst>
              </p:cNvPr>
              <p:cNvSpPr/>
              <p:nvPr/>
            </p:nvSpPr>
            <p:spPr>
              <a:xfrm>
                <a:off x="7909506" y="2405578"/>
                <a:ext cx="2995082" cy="7017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E74C9DA-0227-8B4D-AE4A-4E0D86977414}"/>
                  </a:ext>
                </a:extLst>
              </p:cNvPr>
              <p:cNvSpPr txBox="1"/>
              <p:nvPr/>
            </p:nvSpPr>
            <p:spPr>
              <a:xfrm>
                <a:off x="6726413" y="2500236"/>
                <a:ext cx="92525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A&amp;B</a:t>
                </a:r>
              </a:p>
            </p:txBody>
          </p:sp>
        </p:grp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D5DE2917-75BE-1D4F-B07B-CA6DD4E4EEB7}"/>
                </a:ext>
              </a:extLst>
            </p:cNvPr>
            <p:cNvSpPr txBox="1"/>
            <p:nvPr/>
          </p:nvSpPr>
          <p:spPr>
            <a:xfrm>
              <a:off x="8820989" y="2456689"/>
              <a:ext cx="11721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0x41</a:t>
              </a:r>
            </a:p>
          </p:txBody>
        </p:sp>
      </p:grpSp>
      <p:grpSp>
        <p:nvGrpSpPr>
          <p:cNvPr id="12" name="Group 11" descr="A OR B = 0x5D">
            <a:extLst>
              <a:ext uri="{FF2B5EF4-FFF2-40B4-BE49-F238E27FC236}">
                <a16:creationId xmlns:a16="http://schemas.microsoft.com/office/drawing/2014/main" id="{2E6B05B3-5AC7-05A0-3B90-EDE6AC0E6FE2}"/>
              </a:ext>
            </a:extLst>
          </p:cNvPr>
          <p:cNvGrpSpPr/>
          <p:nvPr/>
        </p:nvGrpSpPr>
        <p:grpSpPr>
          <a:xfrm>
            <a:off x="6726413" y="3152100"/>
            <a:ext cx="4178175" cy="701796"/>
            <a:chOff x="6726413" y="3152100"/>
            <a:chExt cx="4178175" cy="701796"/>
          </a:xfrm>
        </p:grpSpPr>
        <p:grpSp>
          <p:nvGrpSpPr>
            <p:cNvPr id="7" name="Group 6" descr="A OR B = 0x5D">
              <a:extLst>
                <a:ext uri="{FF2B5EF4-FFF2-40B4-BE49-F238E27FC236}">
                  <a16:creationId xmlns:a16="http://schemas.microsoft.com/office/drawing/2014/main" id="{0D9AF292-ABC3-BAA0-6789-CE4F4221D9C5}"/>
                </a:ext>
              </a:extLst>
            </p:cNvPr>
            <p:cNvGrpSpPr/>
            <p:nvPr/>
          </p:nvGrpSpPr>
          <p:grpSpPr>
            <a:xfrm>
              <a:off x="6726413" y="3152100"/>
              <a:ext cx="4178175" cy="701796"/>
              <a:chOff x="6726413" y="3152100"/>
              <a:chExt cx="4178175" cy="701796"/>
            </a:xfrm>
          </p:grpSpPr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423C0F9E-7815-D040-BEFE-2F9DB13E8A4C}"/>
                  </a:ext>
                </a:extLst>
              </p:cNvPr>
              <p:cNvSpPr/>
              <p:nvPr/>
            </p:nvSpPr>
            <p:spPr>
              <a:xfrm>
                <a:off x="7909506" y="3152100"/>
                <a:ext cx="2995082" cy="7017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B3253E1D-4933-BE41-983B-3907B2D775A4}"/>
                  </a:ext>
                </a:extLst>
              </p:cNvPr>
              <p:cNvSpPr txBox="1"/>
              <p:nvPr/>
            </p:nvSpPr>
            <p:spPr>
              <a:xfrm>
                <a:off x="6726413" y="3246758"/>
                <a:ext cx="92525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A|B</a:t>
                </a:r>
              </a:p>
            </p:txBody>
          </p:sp>
        </p:grp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CD50BEE-6B4C-3844-BBF9-6C6A26D27066}"/>
                </a:ext>
              </a:extLst>
            </p:cNvPr>
            <p:cNvSpPr txBox="1"/>
            <p:nvPr/>
          </p:nvSpPr>
          <p:spPr>
            <a:xfrm>
              <a:off x="8820990" y="3220851"/>
              <a:ext cx="11721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0x5D</a:t>
              </a:r>
            </a:p>
          </p:txBody>
        </p:sp>
      </p:grpSp>
      <p:grpSp>
        <p:nvGrpSpPr>
          <p:cNvPr id="31" name="Group 30" descr="A XOR B = 0x1C">
            <a:extLst>
              <a:ext uri="{FF2B5EF4-FFF2-40B4-BE49-F238E27FC236}">
                <a16:creationId xmlns:a16="http://schemas.microsoft.com/office/drawing/2014/main" id="{79B355A4-53D4-DD5D-6CCC-7BCAB6F28BA8}"/>
              </a:ext>
            </a:extLst>
          </p:cNvPr>
          <p:cNvGrpSpPr/>
          <p:nvPr/>
        </p:nvGrpSpPr>
        <p:grpSpPr>
          <a:xfrm>
            <a:off x="6726413" y="3914688"/>
            <a:ext cx="4178175" cy="701796"/>
            <a:chOff x="6726413" y="3914688"/>
            <a:chExt cx="4178175" cy="701796"/>
          </a:xfrm>
        </p:grpSpPr>
        <p:grpSp>
          <p:nvGrpSpPr>
            <p:cNvPr id="9" name="Group 8" descr="A XOR B = 0x1C">
              <a:extLst>
                <a:ext uri="{FF2B5EF4-FFF2-40B4-BE49-F238E27FC236}">
                  <a16:creationId xmlns:a16="http://schemas.microsoft.com/office/drawing/2014/main" id="{67002D1D-5F67-2BF9-8007-96A266F82F7E}"/>
                </a:ext>
              </a:extLst>
            </p:cNvPr>
            <p:cNvGrpSpPr/>
            <p:nvPr/>
          </p:nvGrpSpPr>
          <p:grpSpPr>
            <a:xfrm>
              <a:off x="6726413" y="3914688"/>
              <a:ext cx="4178175" cy="701796"/>
              <a:chOff x="6726413" y="3914688"/>
              <a:chExt cx="4178175" cy="701796"/>
            </a:xfrm>
          </p:grpSpPr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2D53AE61-88AF-8248-BFA2-2B321182AB67}"/>
                  </a:ext>
                </a:extLst>
              </p:cNvPr>
              <p:cNvSpPr/>
              <p:nvPr/>
            </p:nvSpPr>
            <p:spPr>
              <a:xfrm>
                <a:off x="7909506" y="3914688"/>
                <a:ext cx="2995082" cy="7017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93764B7C-BE89-EA46-9153-51C798465B85}"/>
                  </a:ext>
                </a:extLst>
              </p:cNvPr>
              <p:cNvSpPr txBox="1"/>
              <p:nvPr/>
            </p:nvSpPr>
            <p:spPr>
              <a:xfrm>
                <a:off x="6726413" y="4009346"/>
                <a:ext cx="92525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A^B</a:t>
                </a:r>
              </a:p>
            </p:txBody>
          </p:sp>
        </p:grp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6C87F0A-586E-EE4E-BCCA-F4B36BF435D9}"/>
                </a:ext>
              </a:extLst>
            </p:cNvPr>
            <p:cNvSpPr txBox="1"/>
            <p:nvPr/>
          </p:nvSpPr>
          <p:spPr>
            <a:xfrm>
              <a:off x="8820990" y="4009346"/>
              <a:ext cx="11721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0x1C</a:t>
              </a:r>
            </a:p>
          </p:txBody>
        </p:sp>
      </p:grpSp>
      <p:grpSp>
        <p:nvGrpSpPr>
          <p:cNvPr id="32" name="Group 31" descr="Complement B = 0xAA">
            <a:extLst>
              <a:ext uri="{FF2B5EF4-FFF2-40B4-BE49-F238E27FC236}">
                <a16:creationId xmlns:a16="http://schemas.microsoft.com/office/drawing/2014/main" id="{CC718554-1D6A-6B12-8E76-1A7796C16713}"/>
              </a:ext>
            </a:extLst>
          </p:cNvPr>
          <p:cNvGrpSpPr/>
          <p:nvPr/>
        </p:nvGrpSpPr>
        <p:grpSpPr>
          <a:xfrm>
            <a:off x="6973275" y="4691618"/>
            <a:ext cx="3931313" cy="701796"/>
            <a:chOff x="6973275" y="4691618"/>
            <a:chExt cx="3931313" cy="701796"/>
          </a:xfrm>
        </p:grpSpPr>
        <p:grpSp>
          <p:nvGrpSpPr>
            <p:cNvPr id="10" name="Group 9" descr="Complement B = 0xAA">
              <a:extLst>
                <a:ext uri="{FF2B5EF4-FFF2-40B4-BE49-F238E27FC236}">
                  <a16:creationId xmlns:a16="http://schemas.microsoft.com/office/drawing/2014/main" id="{A5B11501-C4DC-28E1-220F-7BBF20479EE2}"/>
                </a:ext>
              </a:extLst>
            </p:cNvPr>
            <p:cNvGrpSpPr/>
            <p:nvPr/>
          </p:nvGrpSpPr>
          <p:grpSpPr>
            <a:xfrm>
              <a:off x="6973275" y="4691618"/>
              <a:ext cx="3931313" cy="701796"/>
              <a:chOff x="6973275" y="4691618"/>
              <a:chExt cx="3931313" cy="701796"/>
            </a:xfrm>
          </p:grpSpPr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E6D71767-9A0B-2B45-9A18-DA35FED4B7B0}"/>
                  </a:ext>
                </a:extLst>
              </p:cNvPr>
              <p:cNvSpPr/>
              <p:nvPr/>
            </p:nvSpPr>
            <p:spPr>
              <a:xfrm>
                <a:off x="7909506" y="4691618"/>
                <a:ext cx="2995082" cy="7017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65B7B90-A3C0-A94F-BAFF-6A1DC7CC294E}"/>
                  </a:ext>
                </a:extLst>
              </p:cNvPr>
              <p:cNvSpPr txBox="1"/>
              <p:nvPr/>
            </p:nvSpPr>
            <p:spPr>
              <a:xfrm>
                <a:off x="6973275" y="4803927"/>
                <a:ext cx="6783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~B</a:t>
                </a:r>
              </a:p>
            </p:txBody>
          </p:sp>
        </p:grp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2D8D0ED4-26DC-2849-9ACA-EDDEEE21EEF0}"/>
                </a:ext>
              </a:extLst>
            </p:cNvPr>
            <p:cNvSpPr txBox="1"/>
            <p:nvPr/>
          </p:nvSpPr>
          <p:spPr>
            <a:xfrm>
              <a:off x="8820990" y="4795871"/>
              <a:ext cx="11721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0xAA</a:t>
              </a:r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3F674-36FF-9640-BAB3-5C819FE5F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5147E-C069-D245-B07B-4C2BC6E1A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25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24298-4AB8-5C48-914D-D28D607C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Expressions in 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6A1148-2966-754C-B0CB-DCFA957FF018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(2.1.7)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B496-F622-C244-95D6-DA57C560A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5871358" cy="546951"/>
          </a:xfrm>
        </p:spPr>
        <p:txBody>
          <a:bodyPr/>
          <a:lstStyle/>
          <a:p>
            <a:r>
              <a:rPr lang="en-US" dirty="0"/>
              <a:t>Let’s look at this in C code just for fun.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BBF59-8887-E149-BDF3-4CEB65B097BF}"/>
              </a:ext>
            </a:extLst>
          </p:cNvPr>
          <p:cNvSpPr txBox="1"/>
          <p:nvPr/>
        </p:nvSpPr>
        <p:spPr>
          <a:xfrm>
            <a:off x="118732" y="2090172"/>
            <a:ext cx="6925335" cy="267765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unsigned </a:t>
            </a:r>
            <a:r>
              <a:rPr lang="en-US" sz="2400" b="1" dirty="0">
                <a:solidFill>
                  <a:srgbClr val="2E8B57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A = 0x49;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unsigned </a:t>
            </a:r>
            <a:r>
              <a:rPr lang="en-US" sz="2400" b="1" dirty="0">
                <a:solidFill>
                  <a:srgbClr val="2E8B57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B = 0x55;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"0x%.2x\n"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A&amp;B);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"0x%.2x\n"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A|B);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"0x%.2x\n"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A^B);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"0x%.2x\n"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(unsigned </a:t>
            </a:r>
            <a:r>
              <a:rPr lang="en-US" sz="2400" b="1" dirty="0">
                <a:solidFill>
                  <a:srgbClr val="2E8B57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)~B);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EB9B1B7-0EBF-5545-8EE7-1DB4120E2485}"/>
              </a:ext>
            </a:extLst>
          </p:cNvPr>
          <p:cNvSpPr txBox="1"/>
          <p:nvPr/>
        </p:nvSpPr>
        <p:spPr>
          <a:xfrm>
            <a:off x="118732" y="5154447"/>
            <a:ext cx="4868893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"0x%.2x\n"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~B);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5B04138-4DF2-B440-91F0-EF94A80447DA}"/>
              </a:ext>
            </a:extLst>
          </p:cNvPr>
          <p:cNvSpPr txBox="1"/>
          <p:nvPr/>
        </p:nvSpPr>
        <p:spPr>
          <a:xfrm>
            <a:off x="6212588" y="5178370"/>
            <a:ext cx="4868893" cy="46166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l" sz="2400" dirty="0">
                <a:latin typeface="Menlo" panose="020B0609030804020204" pitchFamily="49" charset="0"/>
              </a:rPr>
              <a:t>0xffffffaa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234A40FE-2999-8847-AC51-D1EA7D2FF113}"/>
              </a:ext>
            </a:extLst>
          </p:cNvPr>
          <p:cNvSpPr txBox="1"/>
          <p:nvPr/>
        </p:nvSpPr>
        <p:spPr>
          <a:xfrm>
            <a:off x="118732" y="5892053"/>
            <a:ext cx="5574932" cy="46166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"0x%.2x\n"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~B &amp; 0xFF);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F6CBF6-B1D8-CD41-9990-023D88EE0003}"/>
              </a:ext>
            </a:extLst>
          </p:cNvPr>
          <p:cNvSpPr txBox="1"/>
          <p:nvPr/>
        </p:nvSpPr>
        <p:spPr>
          <a:xfrm>
            <a:off x="6212588" y="5892052"/>
            <a:ext cx="4868893" cy="461665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pl" sz="2400" dirty="0">
                <a:latin typeface="Menlo" panose="020B0609030804020204" pitchFamily="49" charset="0"/>
              </a:rPr>
              <a:t>0xaa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22B118-7CFC-3740-B4BF-0E2631AE9E2B}"/>
              </a:ext>
            </a:extLst>
          </p:cNvPr>
          <p:cNvSpPr txBox="1"/>
          <p:nvPr/>
        </p:nvSpPr>
        <p:spPr>
          <a:xfrm>
            <a:off x="10478013" y="0"/>
            <a:ext cx="170110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question2.c</a:t>
            </a:r>
          </a:p>
        </p:txBody>
      </p:sp>
      <p:grpSp>
        <p:nvGrpSpPr>
          <p:cNvPr id="61" name="Group 60" descr="A AND B = 0x41">
            <a:extLst>
              <a:ext uri="{FF2B5EF4-FFF2-40B4-BE49-F238E27FC236}">
                <a16:creationId xmlns:a16="http://schemas.microsoft.com/office/drawing/2014/main" id="{9C6C84E3-838B-8D7C-C35A-5C9B3900461F}"/>
              </a:ext>
            </a:extLst>
          </p:cNvPr>
          <p:cNvGrpSpPr/>
          <p:nvPr/>
        </p:nvGrpSpPr>
        <p:grpSpPr>
          <a:xfrm>
            <a:off x="7427057" y="1545110"/>
            <a:ext cx="4178175" cy="701796"/>
            <a:chOff x="6726413" y="2405578"/>
            <a:chExt cx="4178175" cy="701796"/>
          </a:xfrm>
        </p:grpSpPr>
        <p:grpSp>
          <p:nvGrpSpPr>
            <p:cNvPr id="62" name="Group 61" descr="A AND B = 0x41">
              <a:extLst>
                <a:ext uri="{FF2B5EF4-FFF2-40B4-BE49-F238E27FC236}">
                  <a16:creationId xmlns:a16="http://schemas.microsoft.com/office/drawing/2014/main" id="{D4430F1A-8F87-9677-F903-4A4D8B067CC8}"/>
                </a:ext>
              </a:extLst>
            </p:cNvPr>
            <p:cNvGrpSpPr/>
            <p:nvPr/>
          </p:nvGrpSpPr>
          <p:grpSpPr>
            <a:xfrm>
              <a:off x="6726413" y="2405578"/>
              <a:ext cx="4178175" cy="701796"/>
              <a:chOff x="6726413" y="2405578"/>
              <a:chExt cx="4178175" cy="701796"/>
            </a:xfrm>
          </p:grpSpPr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532E1581-DA61-A044-3598-1E0D2A6CC429}"/>
                  </a:ext>
                </a:extLst>
              </p:cNvPr>
              <p:cNvSpPr/>
              <p:nvPr/>
            </p:nvSpPr>
            <p:spPr>
              <a:xfrm>
                <a:off x="7909506" y="2405578"/>
                <a:ext cx="2995082" cy="7017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5" name="TextBox 64">
                <a:extLst>
                  <a:ext uri="{FF2B5EF4-FFF2-40B4-BE49-F238E27FC236}">
                    <a16:creationId xmlns:a16="http://schemas.microsoft.com/office/drawing/2014/main" id="{AC3A3F95-EFFD-822C-4A28-43F51987AB3F}"/>
                  </a:ext>
                </a:extLst>
              </p:cNvPr>
              <p:cNvSpPr txBox="1"/>
              <p:nvPr/>
            </p:nvSpPr>
            <p:spPr>
              <a:xfrm>
                <a:off x="6726413" y="2500236"/>
                <a:ext cx="92525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A&amp;B</a:t>
                </a:r>
              </a:p>
            </p:txBody>
          </p:sp>
        </p:grp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7CD12FD6-C9D6-EE38-7F93-179AA5B765B4}"/>
                </a:ext>
              </a:extLst>
            </p:cNvPr>
            <p:cNvSpPr txBox="1"/>
            <p:nvPr/>
          </p:nvSpPr>
          <p:spPr>
            <a:xfrm>
              <a:off x="8820989" y="2456689"/>
              <a:ext cx="11721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0x41</a:t>
              </a:r>
            </a:p>
          </p:txBody>
        </p:sp>
      </p:grpSp>
      <p:grpSp>
        <p:nvGrpSpPr>
          <p:cNvPr id="66" name="Group 65" descr="A OR B = 0x5D">
            <a:extLst>
              <a:ext uri="{FF2B5EF4-FFF2-40B4-BE49-F238E27FC236}">
                <a16:creationId xmlns:a16="http://schemas.microsoft.com/office/drawing/2014/main" id="{CDD2B838-F0FB-A574-5511-E76F964368BB}"/>
              </a:ext>
            </a:extLst>
          </p:cNvPr>
          <p:cNvGrpSpPr/>
          <p:nvPr/>
        </p:nvGrpSpPr>
        <p:grpSpPr>
          <a:xfrm>
            <a:off x="7427057" y="2291632"/>
            <a:ext cx="4178175" cy="701796"/>
            <a:chOff x="6726413" y="3152100"/>
            <a:chExt cx="4178175" cy="701796"/>
          </a:xfrm>
        </p:grpSpPr>
        <p:grpSp>
          <p:nvGrpSpPr>
            <p:cNvPr id="67" name="Group 66" descr="A OR B = 0x5D">
              <a:extLst>
                <a:ext uri="{FF2B5EF4-FFF2-40B4-BE49-F238E27FC236}">
                  <a16:creationId xmlns:a16="http://schemas.microsoft.com/office/drawing/2014/main" id="{0794E6EB-541D-A6C9-7121-93A46FF6C91B}"/>
                </a:ext>
              </a:extLst>
            </p:cNvPr>
            <p:cNvGrpSpPr/>
            <p:nvPr/>
          </p:nvGrpSpPr>
          <p:grpSpPr>
            <a:xfrm>
              <a:off x="6726413" y="3152100"/>
              <a:ext cx="4178175" cy="701796"/>
              <a:chOff x="6726413" y="3152100"/>
              <a:chExt cx="4178175" cy="701796"/>
            </a:xfrm>
          </p:grpSpPr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B223D01C-3E40-8585-B318-D6EC04F70C68}"/>
                  </a:ext>
                </a:extLst>
              </p:cNvPr>
              <p:cNvSpPr/>
              <p:nvPr/>
            </p:nvSpPr>
            <p:spPr>
              <a:xfrm>
                <a:off x="7909506" y="3152100"/>
                <a:ext cx="2995082" cy="7017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23329DDD-E1DE-DD0B-81E7-952C273BB8FA}"/>
                  </a:ext>
                </a:extLst>
              </p:cNvPr>
              <p:cNvSpPr txBox="1"/>
              <p:nvPr/>
            </p:nvSpPr>
            <p:spPr>
              <a:xfrm>
                <a:off x="6726413" y="3246758"/>
                <a:ext cx="92525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A|B</a:t>
                </a:r>
              </a:p>
            </p:txBody>
          </p:sp>
        </p:grp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2970009-3B3F-ED10-4F74-46320C088E97}"/>
                </a:ext>
              </a:extLst>
            </p:cNvPr>
            <p:cNvSpPr txBox="1"/>
            <p:nvPr/>
          </p:nvSpPr>
          <p:spPr>
            <a:xfrm>
              <a:off x="8820990" y="3220851"/>
              <a:ext cx="11721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0x5D</a:t>
              </a:r>
            </a:p>
          </p:txBody>
        </p:sp>
      </p:grpSp>
      <p:grpSp>
        <p:nvGrpSpPr>
          <p:cNvPr id="71" name="Group 70" descr="A XOR B = 0x1C">
            <a:extLst>
              <a:ext uri="{FF2B5EF4-FFF2-40B4-BE49-F238E27FC236}">
                <a16:creationId xmlns:a16="http://schemas.microsoft.com/office/drawing/2014/main" id="{C05246CC-A99B-7A5A-93C0-83B28782AD78}"/>
              </a:ext>
            </a:extLst>
          </p:cNvPr>
          <p:cNvGrpSpPr/>
          <p:nvPr/>
        </p:nvGrpSpPr>
        <p:grpSpPr>
          <a:xfrm>
            <a:off x="7427057" y="3054220"/>
            <a:ext cx="4178175" cy="701796"/>
            <a:chOff x="6726413" y="3914688"/>
            <a:chExt cx="4178175" cy="701796"/>
          </a:xfrm>
        </p:grpSpPr>
        <p:grpSp>
          <p:nvGrpSpPr>
            <p:cNvPr id="72" name="Group 71" descr="A XOR B = 0x1C">
              <a:extLst>
                <a:ext uri="{FF2B5EF4-FFF2-40B4-BE49-F238E27FC236}">
                  <a16:creationId xmlns:a16="http://schemas.microsoft.com/office/drawing/2014/main" id="{B7A95D4A-4D72-4A25-339E-C5DA74C2B086}"/>
                </a:ext>
              </a:extLst>
            </p:cNvPr>
            <p:cNvGrpSpPr/>
            <p:nvPr/>
          </p:nvGrpSpPr>
          <p:grpSpPr>
            <a:xfrm>
              <a:off x="6726413" y="3914688"/>
              <a:ext cx="4178175" cy="701796"/>
              <a:chOff x="6726413" y="3914688"/>
              <a:chExt cx="4178175" cy="701796"/>
            </a:xfrm>
          </p:grpSpPr>
          <p:sp>
            <p:nvSpPr>
              <p:cNvPr id="74" name="Rectangle 73">
                <a:extLst>
                  <a:ext uri="{FF2B5EF4-FFF2-40B4-BE49-F238E27FC236}">
                    <a16:creationId xmlns:a16="http://schemas.microsoft.com/office/drawing/2014/main" id="{CE0121F2-8525-46C6-8132-D41A1E910625}"/>
                  </a:ext>
                </a:extLst>
              </p:cNvPr>
              <p:cNvSpPr/>
              <p:nvPr/>
            </p:nvSpPr>
            <p:spPr>
              <a:xfrm>
                <a:off x="7909506" y="3914688"/>
                <a:ext cx="2995082" cy="7017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5" name="TextBox 74">
                <a:extLst>
                  <a:ext uri="{FF2B5EF4-FFF2-40B4-BE49-F238E27FC236}">
                    <a16:creationId xmlns:a16="http://schemas.microsoft.com/office/drawing/2014/main" id="{A45685D5-EB94-3EB2-1840-E19C8BA18D6D}"/>
                  </a:ext>
                </a:extLst>
              </p:cNvPr>
              <p:cNvSpPr txBox="1"/>
              <p:nvPr/>
            </p:nvSpPr>
            <p:spPr>
              <a:xfrm>
                <a:off x="6726413" y="4009346"/>
                <a:ext cx="925253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A^B</a:t>
                </a:r>
              </a:p>
            </p:txBody>
          </p:sp>
        </p:grpSp>
        <p:sp>
          <p:nvSpPr>
            <p:cNvPr id="73" name="TextBox 72">
              <a:extLst>
                <a:ext uri="{FF2B5EF4-FFF2-40B4-BE49-F238E27FC236}">
                  <a16:creationId xmlns:a16="http://schemas.microsoft.com/office/drawing/2014/main" id="{D8346EDA-9EA5-7D43-702D-437474F3762F}"/>
                </a:ext>
              </a:extLst>
            </p:cNvPr>
            <p:cNvSpPr txBox="1"/>
            <p:nvPr/>
          </p:nvSpPr>
          <p:spPr>
            <a:xfrm>
              <a:off x="8820990" y="4009346"/>
              <a:ext cx="11721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0x1C</a:t>
              </a:r>
            </a:p>
          </p:txBody>
        </p:sp>
      </p:grpSp>
      <p:grpSp>
        <p:nvGrpSpPr>
          <p:cNvPr id="76" name="Group 75" descr="Complement B = 0xAA">
            <a:extLst>
              <a:ext uri="{FF2B5EF4-FFF2-40B4-BE49-F238E27FC236}">
                <a16:creationId xmlns:a16="http://schemas.microsoft.com/office/drawing/2014/main" id="{91DB31D5-0488-7132-2841-64012D1FD65A}"/>
              </a:ext>
            </a:extLst>
          </p:cNvPr>
          <p:cNvGrpSpPr/>
          <p:nvPr/>
        </p:nvGrpSpPr>
        <p:grpSpPr>
          <a:xfrm>
            <a:off x="7673919" y="3831150"/>
            <a:ext cx="3931313" cy="701796"/>
            <a:chOff x="6973275" y="4691618"/>
            <a:chExt cx="3931313" cy="701796"/>
          </a:xfrm>
        </p:grpSpPr>
        <p:grpSp>
          <p:nvGrpSpPr>
            <p:cNvPr id="77" name="Group 76" descr="Complement B = 0xAA">
              <a:extLst>
                <a:ext uri="{FF2B5EF4-FFF2-40B4-BE49-F238E27FC236}">
                  <a16:creationId xmlns:a16="http://schemas.microsoft.com/office/drawing/2014/main" id="{53DD7A85-4F67-9A4F-1122-A0C13BF4A768}"/>
                </a:ext>
              </a:extLst>
            </p:cNvPr>
            <p:cNvGrpSpPr/>
            <p:nvPr/>
          </p:nvGrpSpPr>
          <p:grpSpPr>
            <a:xfrm>
              <a:off x="6973275" y="4691618"/>
              <a:ext cx="3931313" cy="701796"/>
              <a:chOff x="6973275" y="4691618"/>
              <a:chExt cx="3931313" cy="701796"/>
            </a:xfrm>
          </p:grpSpPr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A700D526-EB1A-78EE-77C7-7963730279E7}"/>
                  </a:ext>
                </a:extLst>
              </p:cNvPr>
              <p:cNvSpPr/>
              <p:nvPr/>
            </p:nvSpPr>
            <p:spPr>
              <a:xfrm>
                <a:off x="7909506" y="4691618"/>
                <a:ext cx="2995082" cy="70179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TextBox 79">
                <a:extLst>
                  <a:ext uri="{FF2B5EF4-FFF2-40B4-BE49-F238E27FC236}">
                    <a16:creationId xmlns:a16="http://schemas.microsoft.com/office/drawing/2014/main" id="{F9C19C4E-C563-74A2-4F62-71E260FF6D4E}"/>
                  </a:ext>
                </a:extLst>
              </p:cNvPr>
              <p:cNvSpPr txBox="1"/>
              <p:nvPr/>
            </p:nvSpPr>
            <p:spPr>
              <a:xfrm>
                <a:off x="6973275" y="4803927"/>
                <a:ext cx="678391" cy="58477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3200" b="1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~B</a:t>
                </a:r>
              </a:p>
            </p:txBody>
          </p:sp>
        </p:grpSp>
        <p:sp>
          <p:nvSpPr>
            <p:cNvPr id="78" name="TextBox 77">
              <a:extLst>
                <a:ext uri="{FF2B5EF4-FFF2-40B4-BE49-F238E27FC236}">
                  <a16:creationId xmlns:a16="http://schemas.microsoft.com/office/drawing/2014/main" id="{63B4CDD1-DBE4-8762-983A-B38E78BD6E9C}"/>
                </a:ext>
              </a:extLst>
            </p:cNvPr>
            <p:cNvSpPr txBox="1"/>
            <p:nvPr/>
          </p:nvSpPr>
          <p:spPr>
            <a:xfrm>
              <a:off x="8820990" y="4795871"/>
              <a:ext cx="1172116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3200" b="1" dirty="0">
                  <a:latin typeface="Courier New" panose="02070309020205020404" pitchFamily="49" charset="0"/>
                  <a:cs typeface="Courier New" panose="02070309020205020404" pitchFamily="49" charset="0"/>
                </a:rPr>
                <a:t>0xAA</a:t>
              </a:r>
            </a:p>
          </p:txBody>
        </p:sp>
      </p:grp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3F674-36FF-9640-BAB3-5C819FE5F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5147E-C069-D245-B07B-4C2BC6E1A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9735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25" grpId="0" animBg="1"/>
      <p:bldP spid="2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B24298-4AB8-5C48-914D-D28D607C46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Expressions in C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6A1148-2966-754C-B0CB-DCFA957FF018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(2.1.7)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B22B118-7CFC-3740-B4BF-0E2631AE9E2B}"/>
              </a:ext>
            </a:extLst>
          </p:cNvPr>
          <p:cNvSpPr txBox="1"/>
          <p:nvPr/>
        </p:nvSpPr>
        <p:spPr>
          <a:xfrm>
            <a:off x="10478013" y="0"/>
            <a:ext cx="1701108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r"/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question2.c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76B496-F622-C244-95D6-DA57C560A0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1231880" cy="4597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Let’s take a look under the hood... a little.</a:t>
            </a:r>
            <a:r>
              <a:rPr lang="en-US" b="0" dirty="0"/>
              <a:t>    </a:t>
            </a:r>
            <a:r>
              <a:rPr lang="en-US" sz="2400" b="0" i="1" dirty="0"/>
              <a:t>(Don’t worry, </a:t>
            </a:r>
            <a:r>
              <a:rPr lang="en-US" sz="2400" i="1" dirty="0"/>
              <a:t>this</a:t>
            </a:r>
            <a:r>
              <a:rPr lang="en-US" sz="2400" b="0" i="1" dirty="0"/>
              <a:t> won’t be on a test)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3BBF59-8887-E149-BDF3-4CEB65B097BF}"/>
              </a:ext>
            </a:extLst>
          </p:cNvPr>
          <p:cNvSpPr txBox="1"/>
          <p:nvPr/>
        </p:nvSpPr>
        <p:spPr>
          <a:xfrm>
            <a:off x="275774" y="1785178"/>
            <a:ext cx="7525652" cy="452431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unsigned </a:t>
            </a:r>
            <a:r>
              <a:rPr lang="en-US" sz="2400" b="1" dirty="0">
                <a:solidFill>
                  <a:srgbClr val="2E8B57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A = 0x49;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unsigned </a:t>
            </a:r>
            <a:r>
              <a:rPr lang="en-US" sz="2400" b="1" dirty="0">
                <a:solidFill>
                  <a:srgbClr val="2E8B57"/>
                </a:solidFill>
                <a:latin typeface="Consolas" panose="020B0609020204030204" pitchFamily="49" charset="0"/>
              </a:rPr>
              <a:t>char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B = 0x55;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endParaRPr lang="en-US" sz="2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   A is %d Bytes\n"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rgbClr val="006699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(A));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   B is %d Bytes\n"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rgbClr val="006699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(B));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 A&amp;B is %d Bytes\n"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rgbClr val="006699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(A&amp;B));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 A|B is %d Bytes\n"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rgbClr val="006699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(A|B));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 A^B is %d Bytes\n"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rgbClr val="006699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(A^B));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  ~B is %d Bytes\n"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rgbClr val="006699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(~B));  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"A&amp;&amp;B is %d Bytes\n"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rgbClr val="006699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(A&amp;&amp;B));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"A||B is %d Bytes\n"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rgbClr val="006699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(A||B));printf(</a:t>
            </a:r>
            <a:r>
              <a:rPr lang="en-US" sz="2400" dirty="0">
                <a:solidFill>
                  <a:srgbClr val="0000FF"/>
                </a:solidFill>
                <a:latin typeface="Consolas" panose="020B0609020204030204" pitchFamily="49" charset="0"/>
              </a:rPr>
              <a:t>"  !B is %d Bytes\n"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, </a:t>
            </a:r>
            <a:r>
              <a:rPr lang="en-US" sz="2400" b="1" dirty="0" err="1">
                <a:solidFill>
                  <a:srgbClr val="006699"/>
                </a:solidFill>
                <a:latin typeface="Consolas" panose="020B0609020204030204" pitchFamily="49" charset="0"/>
              </a:rPr>
              <a:t>sizeof</a:t>
            </a:r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(!B));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BF6CBF6-B1D8-CD41-9990-023D88EE0003}"/>
              </a:ext>
            </a:extLst>
          </p:cNvPr>
          <p:cNvSpPr txBox="1"/>
          <p:nvPr/>
        </p:nvSpPr>
        <p:spPr>
          <a:xfrm>
            <a:off x="8118201" y="2916602"/>
            <a:ext cx="3110197" cy="341632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A is 1 Bytes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 B is 1 Bytes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A&amp;B is 4 Bytes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A|B is 4 Bytes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A^B is 4 Bytes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~B is 4 Bytes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A&amp;&amp;B is 4 Bytes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A||B is 4 Bytes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400" dirty="0">
                <a:solidFill>
                  <a:srgbClr val="000000"/>
                </a:solidFill>
                <a:latin typeface="Consolas" panose="020B0609020204030204" pitchFamily="49" charset="0"/>
              </a:rPr>
              <a:t>  !B is 4 Bytes  </a:t>
            </a:r>
            <a:endParaRPr lang="en-US" sz="2400" dirty="0">
              <a:solidFill>
                <a:srgbClr val="5C5C5C"/>
              </a:solidFill>
              <a:latin typeface="Consolas" panose="020B0609020204030204" pitchFamily="49" charset="0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C523544-2A4F-754D-A54D-7B32D67FF001}"/>
              </a:ext>
            </a:extLst>
          </p:cNvPr>
          <p:cNvSpPr txBox="1"/>
          <p:nvPr/>
        </p:nvSpPr>
        <p:spPr>
          <a:xfrm>
            <a:off x="5086877" y="1906218"/>
            <a:ext cx="5720621" cy="830997"/>
          </a:xfrm>
          <a:prstGeom prst="rect">
            <a:avLst/>
          </a:prstGeom>
          <a:solidFill>
            <a:srgbClr val="FFD0FC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This integer promotion applies to all Arithmetic Operations on chars and shorts!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23F674-36FF-9640-BAB3-5C819FE5F1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95147E-C069-D245-B07B-4C2BC6E1A6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54983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A698F2-5B01-3E46-9698-903039FF1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Example: Representing Sets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E2D2BE-A4AC-4F48-8943-1AF2D0F60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0515600" cy="722585"/>
          </a:xfrm>
        </p:spPr>
        <p:txBody>
          <a:bodyPr>
            <a:normAutofit/>
          </a:bodyPr>
          <a:lstStyle/>
          <a:p>
            <a:r>
              <a:rPr lang="en-US" dirty="0"/>
              <a:t>Bitwise Operations can be used to Represent Sets</a:t>
            </a:r>
            <a:endParaRPr lang="en-US" sz="1900" b="1" i="1" kern="0" dirty="0">
              <a:solidFill>
                <a:srgbClr val="FF0000"/>
              </a:solidFill>
              <a:latin typeface="Arial"/>
              <a:sym typeface="Monaco" charset="0"/>
            </a:endParaRP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DF927-87FF-D340-98ED-382D01F594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George Mason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BB7040-D1DF-4741-8C07-ECD392BE6B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15</a:t>
            </a:fld>
            <a:endParaRPr lang="en-US"/>
          </a:p>
        </p:txBody>
      </p:sp>
      <p:graphicFrame>
        <p:nvGraphicFramePr>
          <p:cNvPr id="7" name="Table 6" descr="A is set to 0x69, representing set members in bit positions 0, 3, 5, and 6.&#10;B is set to 0x55, representing set members in bit positions 0, 2, 4, and 6.">
            <a:extLst>
              <a:ext uri="{FF2B5EF4-FFF2-40B4-BE49-F238E27FC236}">
                <a16:creationId xmlns:a16="http://schemas.microsoft.com/office/drawing/2014/main" id="{CF1E7019-CFB2-BE46-991B-4B2BB7BFA6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14814386"/>
              </p:ext>
            </p:extLst>
          </p:nvPr>
        </p:nvGraphicFramePr>
        <p:xfrm>
          <a:off x="939800" y="2169070"/>
          <a:ext cx="11252201" cy="155448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688645">
                  <a:extLst>
                    <a:ext uri="{9D8B030D-6E8A-4147-A177-3AD203B41FA5}">
                      <a16:colId xmlns:a16="http://schemas.microsoft.com/office/drawing/2014/main" val="2986410988"/>
                    </a:ext>
                  </a:extLst>
                </a:gridCol>
                <a:gridCol w="987491">
                  <a:extLst>
                    <a:ext uri="{9D8B030D-6E8A-4147-A177-3AD203B41FA5}">
                      <a16:colId xmlns:a16="http://schemas.microsoft.com/office/drawing/2014/main" val="3436470116"/>
                    </a:ext>
                  </a:extLst>
                </a:gridCol>
                <a:gridCol w="1052458">
                  <a:extLst>
                    <a:ext uri="{9D8B030D-6E8A-4147-A177-3AD203B41FA5}">
                      <a16:colId xmlns:a16="http://schemas.microsoft.com/office/drawing/2014/main" val="3680488441"/>
                    </a:ext>
                  </a:extLst>
                </a:gridCol>
                <a:gridCol w="974498">
                  <a:extLst>
                    <a:ext uri="{9D8B030D-6E8A-4147-A177-3AD203B41FA5}">
                      <a16:colId xmlns:a16="http://schemas.microsoft.com/office/drawing/2014/main" val="2190741849"/>
                    </a:ext>
                  </a:extLst>
                </a:gridCol>
                <a:gridCol w="1143411">
                  <a:extLst>
                    <a:ext uri="{9D8B030D-6E8A-4147-A177-3AD203B41FA5}">
                      <a16:colId xmlns:a16="http://schemas.microsoft.com/office/drawing/2014/main" val="1340512419"/>
                    </a:ext>
                  </a:extLst>
                </a:gridCol>
                <a:gridCol w="1013478">
                  <a:extLst>
                    <a:ext uri="{9D8B030D-6E8A-4147-A177-3AD203B41FA5}">
                      <a16:colId xmlns:a16="http://schemas.microsoft.com/office/drawing/2014/main" val="426765139"/>
                    </a:ext>
                  </a:extLst>
                </a:gridCol>
                <a:gridCol w="1091437">
                  <a:extLst>
                    <a:ext uri="{9D8B030D-6E8A-4147-A177-3AD203B41FA5}">
                      <a16:colId xmlns:a16="http://schemas.microsoft.com/office/drawing/2014/main" val="3009277480"/>
                    </a:ext>
                  </a:extLst>
                </a:gridCol>
                <a:gridCol w="1169397">
                  <a:extLst>
                    <a:ext uri="{9D8B030D-6E8A-4147-A177-3AD203B41FA5}">
                      <a16:colId xmlns:a16="http://schemas.microsoft.com/office/drawing/2014/main" val="2538148616"/>
                    </a:ext>
                  </a:extLst>
                </a:gridCol>
                <a:gridCol w="1048585">
                  <a:extLst>
                    <a:ext uri="{9D8B030D-6E8A-4147-A177-3AD203B41FA5}">
                      <a16:colId xmlns:a16="http://schemas.microsoft.com/office/drawing/2014/main" val="2344924296"/>
                    </a:ext>
                  </a:extLst>
                </a:gridCol>
                <a:gridCol w="2082801">
                  <a:extLst>
                    <a:ext uri="{9D8B030D-6E8A-4147-A177-3AD203B41FA5}">
                      <a16:colId xmlns:a16="http://schemas.microsoft.com/office/drawing/2014/main" val="713832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+mn-lt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7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6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5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4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3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2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Members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43165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A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A = {0,3,5,6}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173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B = {0,2,4,6}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894670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F2480C8-81F3-251D-9878-36659A1FCFBF}"/>
              </a:ext>
            </a:extLst>
          </p:cNvPr>
          <p:cNvSpPr txBox="1">
            <a:spLocks/>
          </p:cNvSpPr>
          <p:nvPr/>
        </p:nvSpPr>
        <p:spPr>
          <a:xfrm>
            <a:off x="939800" y="4189685"/>
            <a:ext cx="10515600" cy="1890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None/>
              <a:defRPr sz="28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6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200" kern="0" dirty="0">
                <a:solidFill>
                  <a:srgbClr val="000000"/>
                </a:solidFill>
                <a:latin typeface="Arial"/>
              </a:rPr>
              <a:t>Operations on the above Bits (representing Set Operations)</a:t>
            </a:r>
          </a:p>
          <a:p>
            <a:pPr marL="576263" lvl="1" indent="-2349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1900" b="1" kern="0" dirty="0">
                <a:solidFill>
                  <a:srgbClr val="000000"/>
                </a:solidFill>
                <a:latin typeface="Arial"/>
              </a:rPr>
              <a:t>&amp;   Intersection	(A&amp;B)	</a:t>
            </a:r>
            <a:r>
              <a:rPr lang="en-US" sz="1900" b="1" kern="0" dirty="0">
                <a:solidFill>
                  <a:srgbClr val="000000"/>
                </a:solidFill>
                <a:latin typeface="Courier" pitchFamily="2" charset="0"/>
              </a:rPr>
              <a:t>01000001	{ 0, 6 }</a:t>
            </a:r>
          </a:p>
          <a:p>
            <a:pPr marL="576263" lvl="1" indent="-2349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1900" b="1" kern="0" dirty="0">
                <a:solidFill>
                  <a:srgbClr val="000000"/>
                </a:solidFill>
                <a:latin typeface="Arial"/>
              </a:rPr>
              <a:t>|     Union		(A|B)	</a:t>
            </a:r>
            <a:r>
              <a:rPr lang="en-US" sz="1900" b="1" kern="0" dirty="0">
                <a:solidFill>
                  <a:srgbClr val="000000"/>
                </a:solidFill>
                <a:latin typeface="Courier" pitchFamily="2" charset="0"/>
              </a:rPr>
              <a:t>01111101	{ 0, 2, 3, 4, 5, 6 }</a:t>
            </a:r>
          </a:p>
          <a:p>
            <a:pPr marL="576263" lvl="1" indent="-2349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1900" b="1" kern="0" dirty="0">
                <a:solidFill>
                  <a:srgbClr val="000000"/>
                </a:solidFill>
                <a:latin typeface="Arial"/>
              </a:rPr>
              <a:t>^	 Symmetric diff. (A^B)	</a:t>
            </a:r>
            <a:r>
              <a:rPr lang="en-US" sz="1900" b="1" kern="0" dirty="0">
                <a:solidFill>
                  <a:srgbClr val="000000"/>
                </a:solidFill>
                <a:latin typeface="Courier" pitchFamily="2" charset="0"/>
              </a:rPr>
              <a:t>00111100	{ 2, 3, 4, 5 }</a:t>
            </a:r>
          </a:p>
          <a:p>
            <a:pPr marL="576263" lvl="1" indent="-234950" eaLnBrk="0" fontAlgn="base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FontTx/>
              <a:buChar char="•"/>
            </a:pPr>
            <a:r>
              <a:rPr lang="en-US" sz="1900" b="1" kern="0" dirty="0">
                <a:solidFill>
                  <a:srgbClr val="000000"/>
                </a:solidFill>
                <a:latin typeface="Arial"/>
              </a:rPr>
              <a:t>~	 Complement	(~B)	</a:t>
            </a:r>
            <a:r>
              <a:rPr lang="en-US" sz="1900" b="1" kern="0" dirty="0">
                <a:solidFill>
                  <a:srgbClr val="000000"/>
                </a:solidFill>
                <a:latin typeface="Courier" pitchFamily="2" charset="0"/>
              </a:rPr>
              <a:t>10101010	{ 1, 3, 5, 7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3925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D2C6-7D5D-4D42-B1DB-3D5BC91B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Masking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4387834-5CE3-5F4B-BF34-5BC4AEEB88A0}"/>
              </a:ext>
            </a:extLst>
          </p:cNvPr>
          <p:cNvSpPr txBox="1"/>
          <p:nvPr/>
        </p:nvSpPr>
        <p:spPr>
          <a:xfrm>
            <a:off x="11167305" y="0"/>
            <a:ext cx="101181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r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mask.c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DB2A-40CE-344F-B1D3-C1FC3085A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0921678" cy="4909865"/>
          </a:xfrm>
        </p:spPr>
        <p:txBody>
          <a:bodyPr>
            <a:normAutofit/>
          </a:bodyPr>
          <a:lstStyle/>
          <a:p>
            <a:r>
              <a:rPr lang="en-US" dirty="0"/>
              <a:t>Common Techniques</a:t>
            </a:r>
          </a:p>
          <a:p>
            <a:endParaRPr lang="en-US" dirty="0"/>
          </a:p>
          <a:p>
            <a:r>
              <a:rPr lang="en-US" dirty="0"/>
              <a:t>Setting certain bits to a 1: </a:t>
            </a:r>
          </a:p>
          <a:p>
            <a:r>
              <a:rPr lang="en-US" b="0" dirty="0"/>
              <a:t>	Example:  You have a char and want to set bits 1 and 2. (LSB is Bit 0)</a:t>
            </a:r>
          </a:p>
          <a:p>
            <a:endParaRPr lang="en-US" b="0" dirty="0"/>
          </a:p>
          <a:p>
            <a:r>
              <a:rPr lang="en-US" b="0" dirty="0"/>
              <a:t>	</a:t>
            </a:r>
            <a:r>
              <a:rPr lang="en-US" dirty="0"/>
              <a:t>Mask: </a:t>
            </a:r>
            <a:r>
              <a:rPr lang="en-US" b="0" dirty="0"/>
              <a:t>Use a mask with a value with the 1 bits you want to set.</a:t>
            </a:r>
          </a:p>
          <a:p>
            <a:r>
              <a:rPr lang="en-US" dirty="0"/>
              <a:t>		00000110 = 0x6</a:t>
            </a:r>
          </a:p>
          <a:p>
            <a:r>
              <a:rPr lang="en-US" dirty="0"/>
              <a:t>	OR: </a:t>
            </a:r>
            <a:r>
              <a:rPr lang="en-US" b="0" dirty="0"/>
              <a:t>Apply the mask with the bitwise OR operator to set those bits.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mask = 0x6;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value |= mask;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FE2EF4-8F9A-4E44-A8F7-E8620CD51D9B}"/>
              </a:ext>
            </a:extLst>
          </p:cNvPr>
          <p:cNvSpPr txBox="1"/>
          <p:nvPr/>
        </p:nvSpPr>
        <p:spPr>
          <a:xfrm>
            <a:off x="6484907" y="5292366"/>
            <a:ext cx="4868893" cy="12003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1) Set bits 1 and 2 to a 1.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value:     0x2a (00101010)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With mask: 0x2e (00101110)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25281E9F-1389-3946-ACE3-B311B82585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0488297"/>
              </p:ext>
            </p:extLst>
          </p:nvPr>
        </p:nvGraphicFramePr>
        <p:xfrm>
          <a:off x="5613360" y="951366"/>
          <a:ext cx="6350728" cy="165354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93841">
                  <a:extLst>
                    <a:ext uri="{9D8B030D-6E8A-4147-A177-3AD203B41FA5}">
                      <a16:colId xmlns:a16="http://schemas.microsoft.com/office/drawing/2014/main" val="2909602978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2129994065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105832126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331572247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273310170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75603011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1269400469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918507075"/>
                    </a:ext>
                  </a:extLst>
                </a:gridCol>
              </a:tblGrid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MSB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LSB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61104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996016"/>
                  </a:ext>
                </a:extLst>
              </a:tr>
              <a:tr h="35448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900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72518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D2C6-7D5D-4D42-B1DB-3D5BC91B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Masking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84889E3-BF4B-4049-97F2-7C94E4A174C1}"/>
              </a:ext>
            </a:extLst>
          </p:cNvPr>
          <p:cNvSpPr txBox="1"/>
          <p:nvPr/>
        </p:nvSpPr>
        <p:spPr>
          <a:xfrm>
            <a:off x="11167305" y="0"/>
            <a:ext cx="101181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r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mask.c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DB2A-40CE-344F-B1D3-C1FC3085A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7098"/>
            <a:ext cx="11353801" cy="4909865"/>
          </a:xfrm>
        </p:spPr>
        <p:txBody>
          <a:bodyPr>
            <a:normAutofit/>
          </a:bodyPr>
          <a:lstStyle/>
          <a:p>
            <a:r>
              <a:rPr lang="en-US" dirty="0"/>
              <a:t>Common Techniques</a:t>
            </a:r>
          </a:p>
          <a:p>
            <a:endParaRPr lang="en-US" dirty="0"/>
          </a:p>
          <a:p>
            <a:r>
              <a:rPr lang="en-US" dirty="0"/>
              <a:t>Setting certain bits to a 0 (clearing bits): </a:t>
            </a:r>
          </a:p>
          <a:p>
            <a:r>
              <a:rPr lang="en-US" b="0" dirty="0"/>
              <a:t>	Example:  You have a char and want to clear bits 1 and 2. (LSB is Bit 0)</a:t>
            </a:r>
          </a:p>
          <a:p>
            <a:endParaRPr lang="en-US" b="0" dirty="0"/>
          </a:p>
          <a:p>
            <a:r>
              <a:rPr lang="en-US" b="0" dirty="0"/>
              <a:t>	</a:t>
            </a:r>
            <a:r>
              <a:rPr lang="en-US" dirty="0"/>
              <a:t>Mask: </a:t>
            </a:r>
            <a:r>
              <a:rPr lang="en-US" b="0" dirty="0"/>
              <a:t>Use a mask with a value with the 0 bits you want to clear.</a:t>
            </a:r>
          </a:p>
          <a:p>
            <a:r>
              <a:rPr lang="en-US" dirty="0"/>
              <a:t>		11111001 = 0xF9 </a:t>
            </a:r>
            <a:r>
              <a:rPr lang="en-US" b="0" i="1" dirty="0"/>
              <a:t>// ~00000110</a:t>
            </a:r>
          </a:p>
          <a:p>
            <a:r>
              <a:rPr lang="en-US" dirty="0"/>
              <a:t>	AND: </a:t>
            </a:r>
            <a:r>
              <a:rPr lang="en-US" b="0" dirty="0"/>
              <a:t>Apply the mask with the bitwise AND operator to clear the bits.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mask = 0xF9;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value &amp;= mask;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DE4DD3-7964-F443-9449-060ABBAD0CCF}"/>
              </a:ext>
            </a:extLst>
          </p:cNvPr>
          <p:cNvSpPr txBox="1"/>
          <p:nvPr/>
        </p:nvSpPr>
        <p:spPr>
          <a:xfrm>
            <a:off x="5867400" y="5292366"/>
            <a:ext cx="6170271" cy="12003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2) Clear bits 1 and 2 (set to a 0).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value:     0x2a (00101010)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With mask: 0x28 (00101000)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E2AB1F7-3728-F64F-8565-D64685673D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26345723"/>
              </p:ext>
            </p:extLst>
          </p:nvPr>
        </p:nvGraphicFramePr>
        <p:xfrm>
          <a:off x="5686943" y="511319"/>
          <a:ext cx="6350728" cy="165354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93841">
                  <a:extLst>
                    <a:ext uri="{9D8B030D-6E8A-4147-A177-3AD203B41FA5}">
                      <a16:colId xmlns:a16="http://schemas.microsoft.com/office/drawing/2014/main" val="2909602978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2129994065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105832126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331572247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273310170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75603011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1269400469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918507075"/>
                    </a:ext>
                  </a:extLst>
                </a:gridCol>
              </a:tblGrid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MSB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LSB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61104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996016"/>
                  </a:ext>
                </a:extLst>
              </a:tr>
              <a:tr h="35448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900905"/>
                  </a:ext>
                </a:extLst>
              </a:tr>
            </a:tbl>
          </a:graphicData>
        </a:graphic>
      </p:graphicFrame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DD3010-C36E-554E-9305-7CEA2E912D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527077"/>
            <a:ext cx="4114800" cy="365125"/>
          </a:xfrm>
        </p:spPr>
        <p:txBody>
          <a:bodyPr/>
          <a:lstStyle/>
          <a:p>
            <a:r>
              <a:rPr lang="en-US"/>
              <a:t>George Mason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90D1A-5218-1243-97A3-6B8A445133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527078"/>
            <a:ext cx="2743200" cy="365125"/>
          </a:xfrm>
        </p:spPr>
        <p:txBody>
          <a:bodyPr/>
          <a:lstStyle/>
          <a:p>
            <a:fld id="{2572BEAC-A941-4842-AABB-78258D38CD8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6214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D2C6-7D5D-4D42-B1DB-3D5BC91B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Masking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CE62A20-B072-834E-BB75-CB328DD03E30}"/>
              </a:ext>
            </a:extLst>
          </p:cNvPr>
          <p:cNvSpPr txBox="1"/>
          <p:nvPr/>
        </p:nvSpPr>
        <p:spPr>
          <a:xfrm>
            <a:off x="11167305" y="0"/>
            <a:ext cx="1011816" cy="369332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pPr algn="r"/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mask.c</a:t>
            </a:r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DB2A-40CE-344F-B1D3-C1FC3085A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7098"/>
            <a:ext cx="11199471" cy="4909865"/>
          </a:xfrm>
        </p:spPr>
        <p:txBody>
          <a:bodyPr>
            <a:normAutofit/>
          </a:bodyPr>
          <a:lstStyle/>
          <a:p>
            <a:r>
              <a:rPr lang="en-US" dirty="0"/>
              <a:t>Common Techniques</a:t>
            </a:r>
          </a:p>
          <a:p>
            <a:endParaRPr lang="en-US" dirty="0"/>
          </a:p>
          <a:p>
            <a:r>
              <a:rPr lang="en-US" dirty="0"/>
              <a:t>Flipping certain bits: </a:t>
            </a:r>
          </a:p>
          <a:p>
            <a:r>
              <a:rPr lang="en-US" b="0" dirty="0"/>
              <a:t>	Example:  You have a char and want to flip bits 1 and 2.</a:t>
            </a:r>
          </a:p>
          <a:p>
            <a:endParaRPr lang="en-US" b="0" dirty="0"/>
          </a:p>
          <a:p>
            <a:r>
              <a:rPr lang="en-US" b="0" dirty="0"/>
              <a:t>	</a:t>
            </a:r>
            <a:r>
              <a:rPr lang="en-US" dirty="0"/>
              <a:t>Mask: </a:t>
            </a:r>
            <a:r>
              <a:rPr lang="en-US" b="0" dirty="0"/>
              <a:t>Use a mask with a value with the 1 bits you want to flip.</a:t>
            </a:r>
          </a:p>
          <a:p>
            <a:r>
              <a:rPr lang="en-US" dirty="0"/>
              <a:t>		00000110 = 0x6</a:t>
            </a:r>
          </a:p>
          <a:p>
            <a:r>
              <a:rPr lang="en-US" dirty="0"/>
              <a:t>	XOR: </a:t>
            </a:r>
            <a:r>
              <a:rPr lang="en-US" b="0" dirty="0"/>
              <a:t>Apply the mask with the bitwise XOR operator to flip those bits.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mask = 0x6;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value ^= mask;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882A6B5-B8DB-234E-A186-ABC7F4AD4FB7}"/>
              </a:ext>
            </a:extLst>
          </p:cNvPr>
          <p:cNvSpPr txBox="1"/>
          <p:nvPr/>
        </p:nvSpPr>
        <p:spPr>
          <a:xfrm>
            <a:off x="5867400" y="5292366"/>
            <a:ext cx="6170271" cy="1200329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3) Flip bits 1 and 2.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value:     0x2a (00101010)</a:t>
            </a:r>
          </a:p>
          <a:p>
            <a:r>
              <a:rPr lang="en-US" sz="2400" dirty="0">
                <a:latin typeface="Consolas" panose="020B0609020204030204" pitchFamily="49" charset="0"/>
                <a:cs typeface="Consolas" panose="020B0609020204030204" pitchFamily="49" charset="0"/>
              </a:rPr>
              <a:t>With mask: 0x2c (00101100)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300B5DF-6247-A846-A7A0-2AA75E38C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5129515"/>
              </p:ext>
            </p:extLst>
          </p:nvPr>
        </p:nvGraphicFramePr>
        <p:xfrm>
          <a:off x="5686943" y="511319"/>
          <a:ext cx="6350728" cy="165354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93841">
                  <a:extLst>
                    <a:ext uri="{9D8B030D-6E8A-4147-A177-3AD203B41FA5}">
                      <a16:colId xmlns:a16="http://schemas.microsoft.com/office/drawing/2014/main" val="2909602978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2129994065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105832126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331572247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273310170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75603011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1269400469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918507075"/>
                    </a:ext>
                  </a:extLst>
                </a:gridCol>
              </a:tblGrid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MSB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LSB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61104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996016"/>
                  </a:ext>
                </a:extLst>
              </a:tr>
              <a:tr h="35448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900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47697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D2C6-7D5D-4D42-B1DB-3D5BC91B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DB2A-40CE-344F-B1D3-C1FC3085A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7098"/>
            <a:ext cx="11199471" cy="5590902"/>
          </a:xfrm>
        </p:spPr>
        <p:txBody>
          <a:bodyPr>
            <a:normAutofit/>
          </a:bodyPr>
          <a:lstStyle/>
          <a:p>
            <a:br>
              <a:rPr lang="en-US" dirty="0"/>
            </a:br>
            <a:r>
              <a:rPr lang="en-US" dirty="0"/>
              <a:t>Reading certain bits: </a:t>
            </a:r>
          </a:p>
          <a:p>
            <a:r>
              <a:rPr lang="en-US" b="0" dirty="0"/>
              <a:t>	Example:  You have a char and want to read bit 1.</a:t>
            </a:r>
          </a:p>
          <a:p>
            <a:endParaRPr lang="en-US" b="0" dirty="0"/>
          </a:p>
          <a:p>
            <a:r>
              <a:rPr lang="en-US" b="0" dirty="0"/>
              <a:t>	</a:t>
            </a:r>
            <a:r>
              <a:rPr lang="en-US" dirty="0"/>
              <a:t>Mask: </a:t>
            </a:r>
            <a:r>
              <a:rPr lang="en-US" b="0" dirty="0"/>
              <a:t>Use a mask with a value with the 1 bits you want to read.</a:t>
            </a:r>
          </a:p>
          <a:p>
            <a:r>
              <a:rPr lang="en-US" dirty="0"/>
              <a:t>		00000010 = 0x2</a:t>
            </a:r>
          </a:p>
          <a:p>
            <a:r>
              <a:rPr lang="en-US" dirty="0"/>
              <a:t>	AND: </a:t>
            </a:r>
            <a:r>
              <a:rPr lang="en-US" b="0" dirty="0"/>
              <a:t>Apply the mask with bitwise AND operator to KEEP those bits.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mask = 0x2;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value &amp;= mask;</a:t>
            </a:r>
          </a:p>
          <a:p>
            <a:endParaRPr lang="en-US" b="0" dirty="0">
              <a:cs typeface="Consolas" panose="020B0609020204030204" pitchFamily="49" charset="0"/>
            </a:endParaRPr>
          </a:p>
          <a:p>
            <a:r>
              <a:rPr lang="en-US" b="0" dirty="0">
                <a:cs typeface="Consolas" panose="020B0609020204030204" pitchFamily="49" charset="0"/>
              </a:rPr>
              <a:t>	Now, your chat has only two values possible: 0 or non-zero. </a:t>
            </a:r>
          </a:p>
          <a:p>
            <a:r>
              <a:rPr lang="en-US" b="0" dirty="0">
                <a:cs typeface="Consolas" panose="020B0609020204030204" pitchFamily="49" charset="0"/>
              </a:rPr>
              <a:t>	You can use other techniques to turn that value into a 0 or 1.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300B5DF-6247-A846-A7A0-2AA75E38C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77476030"/>
              </p:ext>
            </p:extLst>
          </p:nvPr>
        </p:nvGraphicFramePr>
        <p:xfrm>
          <a:off x="5686943" y="511319"/>
          <a:ext cx="6350728" cy="165354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93841">
                  <a:extLst>
                    <a:ext uri="{9D8B030D-6E8A-4147-A177-3AD203B41FA5}">
                      <a16:colId xmlns:a16="http://schemas.microsoft.com/office/drawing/2014/main" val="2909602978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2129994065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105832126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331572247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273310170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75603011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1269400469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918507075"/>
                    </a:ext>
                  </a:extLst>
                </a:gridCol>
              </a:tblGrid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MSB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LSB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61104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996016"/>
                  </a:ext>
                </a:extLst>
              </a:tr>
              <a:tr h="35448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900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4923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D2C6-7D5D-4D42-B1DB-3D5BC91B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Reading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DB2A-40CE-344F-B1D3-C1FC3085A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7098"/>
            <a:ext cx="11199471" cy="559090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Alternate Version for</a:t>
            </a:r>
            <a:br>
              <a:rPr lang="en-US" dirty="0"/>
            </a:br>
            <a:r>
              <a:rPr lang="en-US" dirty="0"/>
              <a:t>Reading certain bits: </a:t>
            </a:r>
          </a:p>
          <a:p>
            <a:r>
              <a:rPr lang="en-US" b="0" dirty="0"/>
              <a:t>	Example:  You have a char and want to read bit 1.</a:t>
            </a:r>
          </a:p>
          <a:p>
            <a:endParaRPr lang="en-US" b="0" dirty="0"/>
          </a:p>
          <a:p>
            <a:r>
              <a:rPr lang="en-US" b="0" dirty="0"/>
              <a:t>	</a:t>
            </a:r>
            <a:r>
              <a:rPr lang="en-US" dirty="0"/>
              <a:t>1) </a:t>
            </a:r>
            <a:r>
              <a:rPr lang="en-US" b="0" dirty="0"/>
              <a:t>Shift the value to put the bit of interest on the right.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value 		// 001010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value 		// 0001010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&lt;- After &gt;&gt; 1</a:t>
            </a:r>
          </a:p>
          <a:p>
            <a:r>
              <a:rPr lang="en-US" dirty="0"/>
              <a:t>	2) </a:t>
            </a:r>
            <a:r>
              <a:rPr lang="en-US" b="0" dirty="0"/>
              <a:t>Apply a mask with bitwise AND operator to KEEP the LSB only.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mask = 0x1; 	// 00000001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value &amp;= mask;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	value 		// 0000000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  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&lt;- After AND mask</a:t>
            </a:r>
          </a:p>
          <a:p>
            <a:endParaRPr lang="en-US" b="0" dirty="0">
              <a:cs typeface="Consolas" panose="020B0609020204030204" pitchFamily="49" charset="0"/>
            </a:endParaRPr>
          </a:p>
          <a:p>
            <a:r>
              <a:rPr lang="en-US" b="0" dirty="0">
                <a:cs typeface="Consolas" panose="020B0609020204030204" pitchFamily="49" charset="0"/>
              </a:rPr>
              <a:t>	Now, your chat has only two values possible: 0 or 1</a:t>
            </a: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D300B5DF-6247-A846-A7A0-2AA75E38C8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168288"/>
              </p:ext>
            </p:extLst>
          </p:nvPr>
        </p:nvGraphicFramePr>
        <p:xfrm>
          <a:off x="5686942" y="195633"/>
          <a:ext cx="6350728" cy="1653545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793841">
                  <a:extLst>
                    <a:ext uri="{9D8B030D-6E8A-4147-A177-3AD203B41FA5}">
                      <a16:colId xmlns:a16="http://schemas.microsoft.com/office/drawing/2014/main" val="2909602978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2129994065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105832126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331572247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273310170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756030114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1269400469"/>
                    </a:ext>
                  </a:extLst>
                </a:gridCol>
                <a:gridCol w="793841">
                  <a:extLst>
                    <a:ext uri="{9D8B030D-6E8A-4147-A177-3AD203B41FA5}">
                      <a16:colId xmlns:a16="http://schemas.microsoft.com/office/drawing/2014/main" val="3918507075"/>
                    </a:ext>
                  </a:extLst>
                </a:gridCol>
              </a:tblGrid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MSB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4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LSB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31061104"/>
                  </a:ext>
                </a:extLst>
              </a:tr>
              <a:tr h="495305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996016"/>
                  </a:ext>
                </a:extLst>
              </a:tr>
              <a:tr h="354483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7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...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3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2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1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Bit 0</a:t>
                      </a: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43900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165158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D2C6-7D5D-4D42-B1DB-3D5BC91B77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Bitwise Combining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C2DB2A-40CE-344F-B1D3-C1FC3085A4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267098"/>
            <a:ext cx="11199471" cy="5590902"/>
          </a:xfrm>
        </p:spPr>
        <p:txBody>
          <a:bodyPr>
            <a:normAutofit/>
          </a:bodyPr>
          <a:lstStyle/>
          <a:p>
            <a:r>
              <a:rPr lang="en-US" b="0" dirty="0"/>
              <a:t>Example:  You have have a </a:t>
            </a:r>
            <a:r>
              <a:rPr lang="en-US" dirty="0"/>
              <a:t>value</a:t>
            </a:r>
            <a:r>
              <a:rPr lang="en-US" b="0" dirty="0"/>
              <a:t> that only uses the </a:t>
            </a:r>
            <a:r>
              <a:rPr lang="en-US" dirty="0"/>
              <a:t>lower 2-bits </a:t>
            </a:r>
            <a:r>
              <a:rPr lang="en-US" b="0" dirty="0"/>
              <a:t>and 				want to put it inside the </a:t>
            </a:r>
            <a:r>
              <a:rPr lang="en-US" dirty="0"/>
              <a:t>middle 2-bits </a:t>
            </a:r>
            <a:r>
              <a:rPr lang="en-US" b="0" dirty="0"/>
              <a:t>of </a:t>
            </a:r>
            <a:r>
              <a:rPr lang="en-US" dirty="0"/>
              <a:t>result</a:t>
            </a:r>
            <a:r>
              <a:rPr lang="en-US" b="0" dirty="0"/>
              <a:t>.</a:t>
            </a:r>
          </a:p>
          <a:p>
            <a:r>
              <a:rPr lang="en-US" b="0" dirty="0">
                <a:cs typeface="Consolas" panose="020B0609020204030204" pitchFamily="49" charset="0"/>
              </a:rPr>
              <a:t>	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//   010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</a:p>
          <a:p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 //   110100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&lt;- Other bits garbage</a:t>
            </a:r>
          </a:p>
          <a:p>
            <a:br>
              <a:rPr lang="en-US" b="0" dirty="0"/>
            </a:br>
            <a:r>
              <a:rPr lang="en-US" b="0" dirty="0"/>
              <a:t>	1) </a:t>
            </a:r>
            <a:r>
              <a:rPr lang="en-US" dirty="0"/>
              <a:t>Use a mask to set all other bits of value to 0 to clean it up.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0" dirty="0">
                <a:cs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//   010</a:t>
            </a:r>
            <a:r>
              <a:rPr lang="en-US" dirty="0">
                <a:solidFill>
                  <a:srgbClr val="FF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</a:p>
          <a:p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 //   000000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&lt;- Last 2 bits clean now</a:t>
            </a:r>
          </a:p>
          <a:p>
            <a:r>
              <a:rPr lang="en-US" b="0" dirty="0"/>
              <a:t>	2) </a:t>
            </a:r>
            <a:r>
              <a:rPr lang="en-US" dirty="0"/>
              <a:t>Now, shift value to put those two bits in the middle.</a:t>
            </a:r>
          </a:p>
          <a:p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	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value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 //   000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000 &lt;- 2 bits in right place!</a:t>
            </a:r>
          </a:p>
          <a:p>
            <a:r>
              <a:rPr lang="en-US" b="0" dirty="0"/>
              <a:t>	3) </a:t>
            </a:r>
            <a:r>
              <a:rPr lang="en-US" dirty="0"/>
              <a:t>Now, OR the result with value</a:t>
            </a:r>
          </a:p>
          <a:p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	</a:t>
            </a:r>
            <a:r>
              <a:rPr lang="en-US" b="0" dirty="0">
                <a:cs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  <a:cs typeface="Consolas" panose="020B0609020204030204" pitchFamily="49" charset="0"/>
              </a:rPr>
              <a:t>result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 //   010</a:t>
            </a:r>
            <a:r>
              <a:rPr lang="en-US" dirty="0">
                <a:solidFill>
                  <a:srgbClr val="00B05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en-US" b="0" dirty="0">
                <a:latin typeface="Consolas" panose="020B0609020204030204" pitchFamily="49" charset="0"/>
                <a:cs typeface="Consolas" panose="020B0609020204030204" pitchFamily="49" charset="0"/>
              </a:rPr>
              <a:t>100</a:t>
            </a:r>
          </a:p>
        </p:txBody>
      </p:sp>
    </p:spTree>
    <p:extLst>
      <p:ext uri="{BB962C8B-B14F-4D97-AF65-F5344CB8AC3E}">
        <p14:creationId xmlns:p14="http://schemas.microsoft.com/office/powerpoint/2010/main" val="34917478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BC82-E982-D344-B395-6FBCFD27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Operations (Left Shift)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2DC3B-80CD-B940-879F-BAC03C3C011B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DE039-E75B-7940-B670-551F9CB0A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0515600" cy="5362302"/>
          </a:xfrm>
        </p:spPr>
        <p:txBody>
          <a:bodyPr/>
          <a:lstStyle/>
          <a:p>
            <a:r>
              <a:rPr lang="en-US" dirty="0"/>
              <a:t>C also lets you shift bits in a value to the left or to the right.</a:t>
            </a:r>
          </a:p>
          <a:p>
            <a:endParaRPr lang="en-US" dirty="0"/>
          </a:p>
          <a:p>
            <a:r>
              <a:rPr lang="en-US" dirty="0"/>
              <a:t>Left Shift		</a:t>
            </a:r>
            <a:r>
              <a:rPr lang="en-US" b="0" dirty="0"/>
              <a:t>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Shifts the bits in a value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0" dirty="0"/>
              <a:t> to the left by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="0" dirty="0"/>
              <a:t> bits.</a:t>
            </a:r>
          </a:p>
          <a:p>
            <a:pPr marL="1143000" lvl="1" indent="-457200"/>
            <a:r>
              <a:rPr lang="en-US" dirty="0"/>
              <a:t>The first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/>
              <a:t> bits shifted off the left are discarded.</a:t>
            </a: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Fills the new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="0" dirty="0"/>
              <a:t> bits on the right with 0s.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endParaRPr lang="en-US" b="0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F2B816-262B-6F42-8B48-019C1DC3DE1E}"/>
              </a:ext>
            </a:extLst>
          </p:cNvPr>
          <p:cNvSpPr/>
          <p:nvPr/>
        </p:nvSpPr>
        <p:spPr>
          <a:xfrm>
            <a:off x="5143500" y="1889249"/>
            <a:ext cx="1905000" cy="55964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x &lt;&lt; k</a:t>
            </a:r>
            <a:endParaRPr lang="en-US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EAAB253-4D7F-14C0-20DC-CA12E714E51D}"/>
              </a:ext>
            </a:extLst>
          </p:cNvPr>
          <p:cNvSpPr txBox="1"/>
          <p:nvPr/>
        </p:nvSpPr>
        <p:spPr>
          <a:xfrm>
            <a:off x="8980340" y="2998445"/>
            <a:ext cx="2382086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rgbClr val="2E8B57"/>
                </a:solidFill>
                <a:latin typeface="Consolas" panose="020B060902020403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x = 0x5B;</a:t>
            </a:r>
            <a:endParaRPr lang="en-US" sz="20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x &lt;&lt;= 3;  </a:t>
            </a:r>
            <a:endParaRPr lang="en-US" sz="2000" dirty="0">
              <a:solidFill>
                <a:srgbClr val="5C5C5C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9" name="Table 8" descr="X = 0x5B, which is 01011011&#10;Perform X &lt;&lt;= 3;&#10;X is now 0xD8, which is 11011000&#10;&#10;The three 0s on the right are because all left shifts copy in 0 values.">
            <a:extLst>
              <a:ext uri="{FF2B5EF4-FFF2-40B4-BE49-F238E27FC236}">
                <a16:creationId xmlns:a16="http://schemas.microsoft.com/office/drawing/2014/main" id="{78E99418-48F6-DD41-A1F2-CFC0BEB25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1515767"/>
              </p:ext>
            </p:extLst>
          </p:nvPr>
        </p:nvGraphicFramePr>
        <p:xfrm>
          <a:off x="965203" y="4182611"/>
          <a:ext cx="10515600" cy="2407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165522">
                  <a:extLst>
                    <a:ext uri="{9D8B030D-6E8A-4147-A177-3AD203B41FA5}">
                      <a16:colId xmlns:a16="http://schemas.microsoft.com/office/drawing/2014/main" val="2986410988"/>
                    </a:ext>
                  </a:extLst>
                </a:gridCol>
                <a:gridCol w="937598">
                  <a:extLst>
                    <a:ext uri="{9D8B030D-6E8A-4147-A177-3AD203B41FA5}">
                      <a16:colId xmlns:a16="http://schemas.microsoft.com/office/drawing/2014/main" val="343647011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680488441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19074184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134051241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426765139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3009277480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53814861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2344924296"/>
                    </a:ext>
                  </a:extLst>
                </a:gridCol>
                <a:gridCol w="1051560">
                  <a:extLst>
                    <a:ext uri="{9D8B030D-6E8A-4147-A177-3AD203B41FA5}">
                      <a16:colId xmlns:a16="http://schemas.microsoft.com/office/drawing/2014/main" val="713832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just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Before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0x5B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173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Shift: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&lt;&lt; 3</a:t>
                      </a:r>
                    </a:p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082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After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0xD8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894670"/>
                  </a:ext>
                </a:extLst>
              </a:tr>
            </a:tbl>
          </a:graphicData>
        </a:graphic>
      </p:graphicFrame>
      <p:grpSp>
        <p:nvGrpSpPr>
          <p:cNvPr id="16" name="Group 15">
            <a:extLst>
              <a:ext uri="{FF2B5EF4-FFF2-40B4-BE49-F238E27FC236}">
                <a16:creationId xmlns:a16="http://schemas.microsoft.com/office/drawing/2014/main" id="{563882C9-77A5-62DC-C3DD-0933010EF9A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596551" y="4726047"/>
            <a:ext cx="7272309" cy="1295189"/>
            <a:chOff x="2596551" y="4691543"/>
            <a:chExt cx="7272309" cy="1387302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06E72A14-10BD-CCA2-FF4D-10BE558C6ADB}"/>
                </a:ext>
              </a:extLst>
            </p:cNvPr>
            <p:cNvCxnSpPr/>
            <p:nvPr/>
          </p:nvCxnSpPr>
          <p:spPr>
            <a:xfrm flipH="1">
              <a:off x="2596551" y="4692770"/>
              <a:ext cx="3096883" cy="1380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15F35910-862A-E210-3AFA-41A5D9BC8F63}"/>
                </a:ext>
              </a:extLst>
            </p:cNvPr>
            <p:cNvCxnSpPr/>
            <p:nvPr/>
          </p:nvCxnSpPr>
          <p:spPr>
            <a:xfrm flipH="1">
              <a:off x="3671977" y="4697008"/>
              <a:ext cx="3096883" cy="1380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72D106F9-81A9-B87A-3450-D274CBA001D4}"/>
                </a:ext>
              </a:extLst>
            </p:cNvPr>
            <p:cNvCxnSpPr/>
            <p:nvPr/>
          </p:nvCxnSpPr>
          <p:spPr>
            <a:xfrm flipH="1">
              <a:off x="4687259" y="4691543"/>
              <a:ext cx="3096883" cy="1380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2CE2D687-ED64-C45B-05BA-140FDFE68933}"/>
                </a:ext>
              </a:extLst>
            </p:cNvPr>
            <p:cNvCxnSpPr/>
            <p:nvPr/>
          </p:nvCxnSpPr>
          <p:spPr>
            <a:xfrm flipH="1">
              <a:off x="5762685" y="4691543"/>
              <a:ext cx="3096883" cy="1380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CDFBCDC8-A101-EA83-76A9-ED003D48DD32}"/>
                </a:ext>
              </a:extLst>
            </p:cNvPr>
            <p:cNvCxnSpPr/>
            <p:nvPr/>
          </p:nvCxnSpPr>
          <p:spPr>
            <a:xfrm flipH="1">
              <a:off x="6771977" y="4698619"/>
              <a:ext cx="3096883" cy="138022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978731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2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BC82-E982-D344-B395-6FBCFD27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Left Shift to Multiply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2DC3B-80CD-B940-879F-BAC03C3C011B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(2.1.9)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F2B816-262B-6F42-8B48-019C1DC3DE1E}"/>
              </a:ext>
            </a:extLst>
          </p:cNvPr>
          <p:cNvSpPr/>
          <p:nvPr/>
        </p:nvSpPr>
        <p:spPr>
          <a:xfrm>
            <a:off x="5143500" y="1682215"/>
            <a:ext cx="1905000" cy="55964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x &lt;&lt; k</a:t>
            </a:r>
            <a:endParaRPr lang="en-US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1DE039-E75B-7940-B670-551F9CB0A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67098"/>
                <a:ext cx="10515600" cy="5362302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en-US" dirty="0"/>
                  <a:t>Left Shifting can also be used for Multiplication by 2</a:t>
                </a:r>
              </a:p>
              <a:p>
                <a:endParaRPr lang="en-US" dirty="0"/>
              </a:p>
              <a:p>
                <a:r>
                  <a:rPr lang="en-US" dirty="0"/>
                  <a:t>Left Shift		</a:t>
                </a:r>
                <a:r>
                  <a:rPr lang="en-US" b="0" dirty="0"/>
                  <a:t>	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b="0" dirty="0"/>
                  <a:t>Every shift to the left by 1 is like multiplying the value by 2.</a:t>
                </a:r>
              </a:p>
              <a:p>
                <a:pPr lvl="1" indent="0" algn="ctr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 &lt;&lt; 1 = 3 * 2 = 6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b="0" dirty="0"/>
                  <a:t>Every shift to the left by k will multiply the value by 2</a:t>
                </a:r>
                <a:r>
                  <a:rPr lang="en-US" b="0" baseline="30000" dirty="0"/>
                  <a:t>k</a:t>
                </a:r>
                <a:endParaRPr lang="en-US" b="0" dirty="0"/>
              </a:p>
              <a:p>
                <a:pPr lvl="1" indent="0" algn="ctr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3 &lt;&lt; 5 = 3 * 2</a:t>
                </a:r>
                <a:r>
                  <a:rPr lang="en-US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3 * 32 = 96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b="0" dirty="0"/>
                  <a:t>However, remember that Integers can Overflow!</a:t>
                </a:r>
              </a:p>
              <a:p>
                <a:pPr marL="1143000" lvl="1" indent="-457200"/>
                <a:r>
                  <a:rPr lang="en-US" b="0" dirty="0"/>
                  <a:t>For a w-bit value, the following shows how to take this into account.</a:t>
                </a:r>
              </a:p>
              <a:p>
                <a:pPr lvl="1" indent="0">
                  <a:buNone/>
                </a:pPr>
                <a:endParaRPr lang="en-US" b="0" dirty="0"/>
              </a:p>
              <a:p>
                <a:r>
                  <a:rPr lang="en-US" dirty="0"/>
                  <a:t>Mathematical Equivalence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b="0" dirty="0"/>
                  <a:t>Shifting </a:t>
                </a:r>
                <a:r>
                  <a:rPr lang="en-US" dirty="0"/>
                  <a:t>w</a:t>
                </a:r>
                <a:r>
                  <a:rPr lang="en-US" b="0" dirty="0"/>
                  <a:t>-bit value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US" b="0" dirty="0"/>
                  <a:t> left by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k</a:t>
                </a:r>
                <a:r>
                  <a:rPr lang="en-US" b="0" dirty="0"/>
                  <a:t> also is equivalent to: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%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𝑤</m:t>
                        </m:r>
                      </m:sup>
                    </m:sSup>
                  </m:oMath>
                </a14:m>
                <a:r>
                  <a:rPr lang="en-US" b="0" dirty="0"/>
                  <a:t> </a:t>
                </a:r>
              </a:p>
              <a:p>
                <a:pPr marL="1143000" lvl="1" indent="-457200"/>
                <a:r>
                  <a:rPr lang="en-US" dirty="0"/>
                  <a:t>Example with 6 as a </a:t>
                </a:r>
                <a:r>
                  <a:rPr lang="en-US" b="1" dirty="0"/>
                  <a:t>4-bit</a:t>
                </a:r>
                <a:r>
                  <a:rPr lang="en-US" dirty="0"/>
                  <a:t> value, multiplied by 2</a:t>
                </a:r>
                <a:r>
                  <a:rPr lang="en-US" baseline="30000" dirty="0"/>
                  <a:t>2</a:t>
                </a:r>
                <a:r>
                  <a:rPr lang="en-US" dirty="0"/>
                  <a:t>:  6 &lt;&lt; 2 = 8 </a:t>
                </a:r>
              </a:p>
              <a:p>
                <a:pPr marL="1143000" lvl="1" indent="-457200"/>
                <a:r>
                  <a:rPr lang="en-US" b="0" dirty="0"/>
                  <a:t>For this example: (6 * 2</a:t>
                </a:r>
                <a:r>
                  <a:rPr lang="en-US" b="0" baseline="30000" dirty="0"/>
                  <a:t>2</a:t>
                </a:r>
                <a:r>
                  <a:rPr lang="en-US" b="0" dirty="0"/>
                  <a:t>) % 2</a:t>
                </a:r>
                <a:r>
                  <a:rPr lang="en-US" b="0" baseline="30000" dirty="0"/>
                  <a:t>4</a:t>
                </a:r>
                <a:r>
                  <a:rPr lang="en-US" b="0" dirty="0"/>
                  <a:t> = 24 % 16 = 8</a:t>
                </a:r>
                <a:endParaRPr lang="en-US" b="0" baseline="30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1DE039-E75B-7940-B670-551F9CB0A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67098"/>
                <a:ext cx="10515600" cy="5362302"/>
              </a:xfrm>
              <a:blipFill>
                <a:blip r:embed="rId2"/>
                <a:stretch>
                  <a:fillRect l="-1043" t="-2273" b="-5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53364-3A8C-E344-88C7-E96AD8B62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63225"/>
            <a:ext cx="4114800" cy="365125"/>
          </a:xfrm>
        </p:spPr>
        <p:txBody>
          <a:bodyPr/>
          <a:lstStyle/>
          <a:p>
            <a:r>
              <a:rPr lang="en-US" dirty="0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FDE38-5115-6D46-93DF-0DF8CD111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63225"/>
            <a:ext cx="2743200" cy="365125"/>
          </a:xfrm>
        </p:spPr>
        <p:txBody>
          <a:bodyPr/>
          <a:lstStyle/>
          <a:p>
            <a:fld id="{2572BEAC-A941-4842-AABB-78258D38CD80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34850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BC82-E982-D344-B395-6FBCFD27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Operations (Right Shift)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DE039-E75B-7940-B670-551F9CB0A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7"/>
            <a:ext cx="10515600" cy="5454377"/>
          </a:xfrm>
        </p:spPr>
        <p:txBody>
          <a:bodyPr>
            <a:normAutofit/>
          </a:bodyPr>
          <a:lstStyle/>
          <a:p>
            <a:r>
              <a:rPr lang="en-US" dirty="0"/>
              <a:t>C also lets you shift bits in a value to the left or to the right.</a:t>
            </a:r>
          </a:p>
          <a:p>
            <a:endParaRPr lang="en-US" dirty="0"/>
          </a:p>
          <a:p>
            <a:r>
              <a:rPr lang="en-US" dirty="0"/>
              <a:t>Right Shift		</a:t>
            </a:r>
            <a:r>
              <a:rPr lang="en-US" b="0" dirty="0"/>
              <a:t>	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Shifts the bits in a value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0" dirty="0"/>
              <a:t> to the right by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="0" dirty="0"/>
              <a:t> bits.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Fills in with </a:t>
            </a:r>
            <a:r>
              <a:rPr lang="en-US" dirty="0"/>
              <a:t>0s or 1s </a:t>
            </a:r>
            <a:r>
              <a:rPr lang="en-US" b="0" dirty="0"/>
              <a:t>on the right.  It depends on the </a:t>
            </a:r>
            <a:r>
              <a:rPr lang="en-US" dirty="0"/>
              <a:t>Type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000" b="0" dirty="0"/>
          </a:p>
          <a:p>
            <a:r>
              <a:rPr lang="en-US" dirty="0"/>
              <a:t>Types of Right Shifts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Logical Right Shift:</a:t>
            </a:r>
            <a:r>
              <a:rPr lang="en-US" b="0" dirty="0"/>
              <a:t>		Shift in 0s from the left.</a:t>
            </a:r>
            <a:endParaRPr lang="en-US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Arithmetic Right Shift</a:t>
            </a:r>
            <a:r>
              <a:rPr lang="en-US" b="0" dirty="0"/>
              <a:t>:	Shift in the MSB from the left.</a:t>
            </a:r>
          </a:p>
          <a:p>
            <a:r>
              <a:rPr lang="en-US" sz="2000" dirty="0"/>
              <a:t>					</a:t>
            </a:r>
            <a:r>
              <a:rPr lang="en-US" sz="2000" b="0" i="1" dirty="0"/>
              <a:t>(Most Significant Bit)</a:t>
            </a:r>
          </a:p>
          <a:p>
            <a:endParaRPr lang="en-US" sz="2000" b="0" i="1" dirty="0"/>
          </a:p>
          <a:p>
            <a:r>
              <a:rPr lang="en-US" dirty="0"/>
              <a:t>Undefined Behavior if k &lt; 0 or if k &gt;= Word Size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953364-3A8C-E344-88C7-E96AD8B629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439475"/>
            <a:ext cx="4114800" cy="365125"/>
          </a:xfrm>
        </p:spPr>
        <p:txBody>
          <a:bodyPr/>
          <a:lstStyle/>
          <a:p>
            <a:r>
              <a:rPr lang="en-US"/>
              <a:t>George Mason University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FDE38-5115-6D46-93DF-0DF8CD111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39475"/>
            <a:ext cx="2743200" cy="365125"/>
          </a:xfrm>
        </p:spPr>
        <p:txBody>
          <a:bodyPr/>
          <a:lstStyle/>
          <a:p>
            <a:fld id="{2572BEAC-A941-4842-AABB-78258D38CD80}" type="slidenum">
              <a:rPr lang="en-US" smtClean="0"/>
              <a:t>24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2DC3B-80CD-B940-879F-BAC03C3C011B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(2.1.9)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F2B816-262B-6F42-8B48-019C1DC3DE1E}"/>
              </a:ext>
            </a:extLst>
          </p:cNvPr>
          <p:cNvSpPr/>
          <p:nvPr/>
        </p:nvSpPr>
        <p:spPr>
          <a:xfrm>
            <a:off x="5143500" y="1889249"/>
            <a:ext cx="1905000" cy="55964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x &gt;&gt; k</a:t>
            </a:r>
            <a:endParaRPr lang="en-US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467633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BC82-E982-D344-B395-6FBCFD27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Operations (Unsigned Right Shift)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DE039-E75B-7940-B670-551F9CB0A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0515600" cy="5362302"/>
          </a:xfrm>
        </p:spPr>
        <p:txBody>
          <a:bodyPr>
            <a:normAutofit/>
          </a:bodyPr>
          <a:lstStyle/>
          <a:p>
            <a:r>
              <a:rPr lang="en-US" b="0" dirty="0"/>
              <a:t>C Compilers Generally Use (assume these for Zeus):</a:t>
            </a:r>
          </a:p>
          <a:p>
            <a:r>
              <a:rPr lang="en-US" dirty="0"/>
              <a:t>Logical Right Shift</a:t>
            </a:r>
            <a:r>
              <a:rPr lang="en-US" b="0" dirty="0"/>
              <a:t>:		</a:t>
            </a:r>
            <a:r>
              <a:rPr lang="en-US" u="sng" dirty="0"/>
              <a:t>Unsigned</a:t>
            </a:r>
            <a:r>
              <a:rPr lang="en-US" dirty="0"/>
              <a:t> Integer Types</a:t>
            </a: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Shifts the bits in a value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0" dirty="0"/>
              <a:t> to the right by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="0" dirty="0"/>
              <a:t> bits.</a:t>
            </a:r>
          </a:p>
          <a:p>
            <a:pPr marL="1143000" lvl="1" indent="-457200"/>
            <a:r>
              <a:rPr lang="en-US" dirty="0"/>
              <a:t>Those last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/>
              <a:t> bits shifted off the right side are discarded.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Fills the new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="0" dirty="0"/>
              <a:t> bits on the left with </a:t>
            </a:r>
            <a:r>
              <a:rPr lang="en-US" dirty="0"/>
              <a:t>0s</a:t>
            </a:r>
            <a:r>
              <a:rPr lang="en-US" b="0" dirty="0"/>
              <a:t>.</a:t>
            </a:r>
          </a:p>
          <a:p>
            <a:pPr marL="1143000" lvl="1" indent="-457200"/>
            <a:r>
              <a:rPr lang="en-US" dirty="0"/>
              <a:t>Only if this was an UNSIGNED int.</a:t>
            </a: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endParaRPr lang="en-US" b="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2DC3B-80CD-B940-879F-BAC03C3C011B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(2.1.9)</a:t>
            </a:r>
          </a:p>
        </p:txBody>
      </p:sp>
      <p:graphicFrame>
        <p:nvGraphicFramePr>
          <p:cNvPr id="9" name="Table 8" descr="X = 0x92, which is 10010010&#10;Perform X &gt;&gt;= 3;&#10;X is now 0x12, which is 00010010&#10;&#10;The three 0s on the left are because the logical shift on unsigned integers always uses 0s.">
            <a:extLst>
              <a:ext uri="{FF2B5EF4-FFF2-40B4-BE49-F238E27FC236}">
                <a16:creationId xmlns:a16="http://schemas.microsoft.com/office/drawing/2014/main" id="{78E99418-48F6-DD41-A1F2-CFC0BEB25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02508"/>
              </p:ext>
            </p:extLst>
          </p:nvPr>
        </p:nvGraphicFramePr>
        <p:xfrm>
          <a:off x="939800" y="4221480"/>
          <a:ext cx="10414000" cy="2407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94442">
                  <a:extLst>
                    <a:ext uri="{9D8B030D-6E8A-4147-A177-3AD203B41FA5}">
                      <a16:colId xmlns:a16="http://schemas.microsoft.com/office/drawing/2014/main" val="2986410988"/>
                    </a:ext>
                  </a:extLst>
                </a:gridCol>
                <a:gridCol w="788358">
                  <a:extLst>
                    <a:ext uri="{9D8B030D-6E8A-4147-A177-3AD203B41FA5}">
                      <a16:colId xmlns:a16="http://schemas.microsoft.com/office/drawing/2014/main" val="343647011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6804884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190741849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40512419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426765139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00927748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53814861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34492429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713832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Before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0x92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173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Shift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&gt;&gt;= 3</a:t>
                      </a:r>
                    </a:p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082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After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0x12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894670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917FC43A-EADB-7609-393C-224C8C9A8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65562" y="4759691"/>
            <a:ext cx="6870462" cy="1307958"/>
            <a:chOff x="2665562" y="4540751"/>
            <a:chExt cx="6870462" cy="130795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46EE16C-D9D2-3F0B-DBC0-AA451122C21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562" y="4554747"/>
              <a:ext cx="2915729" cy="12939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21ED0E-A91B-2F1F-4A19-8C21B4ED1020}"/>
                </a:ext>
              </a:extLst>
            </p:cNvPr>
            <p:cNvCxnSpPr>
              <a:cxnSpLocks/>
            </p:cNvCxnSpPr>
            <p:nvPr/>
          </p:nvCxnSpPr>
          <p:spPr>
            <a:xfrm>
              <a:off x="3602966" y="4554747"/>
              <a:ext cx="2915729" cy="12939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C194B0E-BDF6-D6D6-EC2A-FDFCAEB2D40D}"/>
                </a:ext>
              </a:extLst>
            </p:cNvPr>
            <p:cNvCxnSpPr>
              <a:cxnSpLocks/>
            </p:cNvCxnSpPr>
            <p:nvPr/>
          </p:nvCxnSpPr>
          <p:spPr>
            <a:xfrm>
              <a:off x="4614412" y="4554747"/>
              <a:ext cx="2915729" cy="12939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94283BD-C867-F28D-BC56-D8C30C5582C9}"/>
                </a:ext>
              </a:extLst>
            </p:cNvPr>
            <p:cNvCxnSpPr>
              <a:cxnSpLocks/>
            </p:cNvCxnSpPr>
            <p:nvPr/>
          </p:nvCxnSpPr>
          <p:spPr>
            <a:xfrm>
              <a:off x="5551816" y="4554747"/>
              <a:ext cx="2915729" cy="12939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48A3E09-D8FE-FDD0-F861-6F57DDDE3F82}"/>
                </a:ext>
              </a:extLst>
            </p:cNvPr>
            <p:cNvCxnSpPr>
              <a:cxnSpLocks/>
            </p:cNvCxnSpPr>
            <p:nvPr/>
          </p:nvCxnSpPr>
          <p:spPr>
            <a:xfrm>
              <a:off x="6620295" y="4540751"/>
              <a:ext cx="2915729" cy="12939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D559188B-2E2C-CA82-1997-75994AA02A36}"/>
              </a:ext>
            </a:extLst>
          </p:cNvPr>
          <p:cNvSpPr txBox="1"/>
          <p:nvPr/>
        </p:nvSpPr>
        <p:spPr>
          <a:xfrm>
            <a:off x="7823560" y="3291790"/>
            <a:ext cx="3424928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unsigned </a:t>
            </a:r>
            <a:r>
              <a:rPr lang="en-US" sz="2000" b="1" dirty="0">
                <a:solidFill>
                  <a:srgbClr val="2E8B57"/>
                </a:solidFill>
                <a:latin typeface="Consolas" panose="020B0609020204030204" pitchFamily="49" charset="0"/>
              </a:rPr>
              <a:t>char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x = 0x92;</a:t>
            </a:r>
            <a:endParaRPr lang="en-US" sz="20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x &gt;&gt;= 3;  </a:t>
            </a:r>
            <a:endParaRPr lang="en-US" sz="2000" dirty="0">
              <a:solidFill>
                <a:srgbClr val="5C5C5C"/>
              </a:solidFill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27448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BC82-E982-D344-B395-6FBCFD27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Shift Operations (Signed Right Shift)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2DC3B-80CD-B940-879F-BAC03C3C011B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(2.1.9)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DE039-E75B-7940-B670-551F9CB0A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7098"/>
            <a:ext cx="10515600" cy="5362302"/>
          </a:xfrm>
        </p:spPr>
        <p:txBody>
          <a:bodyPr>
            <a:normAutofit/>
          </a:bodyPr>
          <a:lstStyle/>
          <a:p>
            <a:r>
              <a:rPr lang="en-US" b="0" dirty="0"/>
              <a:t>C Compilers Generally Use (assume these for Zeus):</a:t>
            </a:r>
          </a:p>
          <a:p>
            <a:r>
              <a:rPr lang="en-US" dirty="0"/>
              <a:t>Arithmetic Right Shift</a:t>
            </a:r>
            <a:r>
              <a:rPr lang="en-US" b="0" dirty="0"/>
              <a:t>:		</a:t>
            </a:r>
            <a:r>
              <a:rPr lang="en-US" u="sng" dirty="0"/>
              <a:t>Signed</a:t>
            </a:r>
            <a:r>
              <a:rPr lang="en-US" dirty="0"/>
              <a:t> Integer Types</a:t>
            </a: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Shifts the bits in a value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x</a:t>
            </a:r>
            <a:r>
              <a:rPr lang="en-US" b="0" dirty="0"/>
              <a:t> to the right by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="0" dirty="0"/>
              <a:t> bits.</a:t>
            </a:r>
          </a:p>
          <a:p>
            <a:pPr marL="1143000" lvl="1" indent="-457200"/>
            <a:r>
              <a:rPr lang="en-US" dirty="0"/>
              <a:t>Those last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dirty="0"/>
              <a:t> bits shifted off the right side are discarded.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b="0" dirty="0"/>
              <a:t>Fills the new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k</a:t>
            </a:r>
            <a:r>
              <a:rPr lang="en-US" b="0" dirty="0"/>
              <a:t> bits on the left with</a:t>
            </a:r>
            <a:r>
              <a:rPr lang="en-US" dirty="0"/>
              <a:t> MSB</a:t>
            </a:r>
            <a:endParaRPr lang="en-US" b="0" dirty="0"/>
          </a:p>
          <a:p>
            <a:pPr marL="1143000" lvl="1" indent="-457200"/>
            <a:r>
              <a:rPr lang="en-US" dirty="0"/>
              <a:t>Copy the MSB and use that Value.</a:t>
            </a: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endParaRPr lang="en-US" b="0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b="0" dirty="0"/>
          </a:p>
          <a:p>
            <a:endParaRPr lang="en-US" b="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D559188B-2E2C-CA82-1997-75994AA02A36}"/>
              </a:ext>
            </a:extLst>
          </p:cNvPr>
          <p:cNvSpPr txBox="1"/>
          <p:nvPr/>
        </p:nvSpPr>
        <p:spPr>
          <a:xfrm>
            <a:off x="8078159" y="3259528"/>
            <a:ext cx="3424928" cy="707886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sz="2000" b="1">
                <a:solidFill>
                  <a:srgbClr val="2E8B57"/>
                </a:solidFill>
                <a:latin typeface="Consolas" panose="020B0609020204030204" pitchFamily="49" charset="0"/>
              </a:rPr>
              <a:t>char</a:t>
            </a:r>
            <a:r>
              <a:rPr lang="en-US" sz="2000">
                <a:solidFill>
                  <a:srgbClr val="000000"/>
                </a:solidFill>
                <a:latin typeface="Consolas" panose="020B0609020204030204" pitchFamily="49" charset="0"/>
              </a:rPr>
              <a:t> 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x = 0x92;</a:t>
            </a:r>
            <a:endParaRPr lang="en-US" sz="2000" dirty="0">
              <a:solidFill>
                <a:srgbClr val="5C5C5C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x &gt;&gt;= 3;  </a:t>
            </a:r>
            <a:endParaRPr lang="en-US" sz="2000" dirty="0">
              <a:solidFill>
                <a:srgbClr val="5C5C5C"/>
              </a:solidFill>
              <a:latin typeface="Consolas" panose="020B0609020204030204" pitchFamily="49" charset="0"/>
            </a:endParaRPr>
          </a:p>
        </p:txBody>
      </p:sp>
      <p:graphicFrame>
        <p:nvGraphicFramePr>
          <p:cNvPr id="9" name="Table 8" descr="X = 0x92, which is 10010010&#10;Perform X &gt;&gt;= 3;&#10;X is now 0xF2, which is 11110010&#10;&#10;The three 1s on the left are because the arithmetic shift on signed integers copies the Most Significant Bit, which for X was a 1.">
            <a:extLst>
              <a:ext uri="{FF2B5EF4-FFF2-40B4-BE49-F238E27FC236}">
                <a16:creationId xmlns:a16="http://schemas.microsoft.com/office/drawing/2014/main" id="{78E99418-48F6-DD41-A1F2-CFC0BEB2516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214691"/>
              </p:ext>
            </p:extLst>
          </p:nvPr>
        </p:nvGraphicFramePr>
        <p:xfrm>
          <a:off x="939800" y="4221480"/>
          <a:ext cx="10414000" cy="2407920"/>
        </p:xfrm>
        <a:graphic>
          <a:graphicData uri="http://schemas.openxmlformats.org/drawingml/2006/table">
            <a:tbl>
              <a:tblPr firstRow="1" bandRow="1">
                <a:tableStyleId>{69CF1AB2-1976-4502-BF36-3FF5EA218861}</a:tableStyleId>
              </a:tblPr>
              <a:tblGrid>
                <a:gridCol w="1294442">
                  <a:extLst>
                    <a:ext uri="{9D8B030D-6E8A-4147-A177-3AD203B41FA5}">
                      <a16:colId xmlns:a16="http://schemas.microsoft.com/office/drawing/2014/main" val="2986410988"/>
                    </a:ext>
                  </a:extLst>
                </a:gridCol>
                <a:gridCol w="788358">
                  <a:extLst>
                    <a:ext uri="{9D8B030D-6E8A-4147-A177-3AD203B41FA5}">
                      <a16:colId xmlns:a16="http://schemas.microsoft.com/office/drawing/2014/main" val="343647011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680488441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190741849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1340512419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426765139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3009277480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53814861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2344924296"/>
                    </a:ext>
                  </a:extLst>
                </a:gridCol>
                <a:gridCol w="1041400">
                  <a:extLst>
                    <a:ext uri="{9D8B030D-6E8A-4147-A177-3AD203B41FA5}">
                      <a16:colId xmlns:a16="http://schemas.microsoft.com/office/drawing/2014/main" val="71383257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Before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0F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0x92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201734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Shift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  <a:p>
                      <a:pPr algn="l"/>
                      <a:r>
                        <a:rPr lang="en-US" sz="2800" b="1" dirty="0">
                          <a:latin typeface="Courier New" panose="02070309020205020404" pitchFamily="49" charset="0"/>
                          <a:cs typeface="Courier New" panose="02070309020205020404" pitchFamily="49" charset="0"/>
                        </a:rPr>
                        <a:t>x &gt;&gt;= 3</a:t>
                      </a:r>
                    </a:p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2800" b="1" dirty="0">
                        <a:latin typeface="Courier New" panose="02070309020205020404" pitchFamily="49" charset="0"/>
                        <a:cs typeface="Courier New" panose="02070309020205020404" pitchFamily="49" charset="0"/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2082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After</a:t>
                      </a: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>
                          <a:latin typeface="+mn-lt"/>
                          <a:cs typeface="Courier New" panose="02070309020205020404" pitchFamily="49" charset="0"/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b="1" dirty="0"/>
                        <a:t>0xF2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894670"/>
                  </a:ext>
                </a:extLst>
              </a:tr>
            </a:tbl>
          </a:graphicData>
        </a:graphic>
      </p:graphicFrame>
      <p:sp>
        <p:nvSpPr>
          <p:cNvPr id="22" name="TextBox 21">
            <a:extLst>
              <a:ext uri="{FF2B5EF4-FFF2-40B4-BE49-F238E27FC236}">
                <a16:creationId xmlns:a16="http://schemas.microsoft.com/office/drawing/2014/main" id="{0AD5C5EC-37DD-89F5-F6C9-0EC1D484F7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301819" y="3948249"/>
            <a:ext cx="625492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/>
              <a:t>MSB</a:t>
            </a: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917FC43A-EADB-7609-393C-224C8C9A8C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665562" y="4759691"/>
            <a:ext cx="6870462" cy="1307958"/>
            <a:chOff x="2665562" y="4540751"/>
            <a:chExt cx="6870462" cy="1307958"/>
          </a:xfrm>
        </p:grpSpPr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546EE16C-D9D2-3F0B-DBC0-AA451122C210}"/>
                </a:ext>
              </a:extLst>
            </p:cNvPr>
            <p:cNvCxnSpPr>
              <a:cxnSpLocks/>
            </p:cNvCxnSpPr>
            <p:nvPr/>
          </p:nvCxnSpPr>
          <p:spPr>
            <a:xfrm>
              <a:off x="2665562" y="4554747"/>
              <a:ext cx="2915729" cy="12939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>
              <a:extLst>
                <a:ext uri="{FF2B5EF4-FFF2-40B4-BE49-F238E27FC236}">
                  <a16:creationId xmlns:a16="http://schemas.microsoft.com/office/drawing/2014/main" id="{0F21ED0E-A91B-2F1F-4A19-8C21B4ED1020}"/>
                </a:ext>
              </a:extLst>
            </p:cNvPr>
            <p:cNvCxnSpPr>
              <a:cxnSpLocks/>
            </p:cNvCxnSpPr>
            <p:nvPr/>
          </p:nvCxnSpPr>
          <p:spPr>
            <a:xfrm>
              <a:off x="3602966" y="4554747"/>
              <a:ext cx="2915729" cy="12939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5C194B0E-BDF6-D6D6-EC2A-FDFCAEB2D40D}"/>
                </a:ext>
              </a:extLst>
            </p:cNvPr>
            <p:cNvCxnSpPr>
              <a:cxnSpLocks/>
            </p:cNvCxnSpPr>
            <p:nvPr/>
          </p:nvCxnSpPr>
          <p:spPr>
            <a:xfrm>
              <a:off x="4614412" y="4554747"/>
              <a:ext cx="2915729" cy="12939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F94283BD-C867-F28D-BC56-D8C30C5582C9}"/>
                </a:ext>
              </a:extLst>
            </p:cNvPr>
            <p:cNvCxnSpPr>
              <a:cxnSpLocks/>
            </p:cNvCxnSpPr>
            <p:nvPr/>
          </p:nvCxnSpPr>
          <p:spPr>
            <a:xfrm>
              <a:off x="5551816" y="4554747"/>
              <a:ext cx="2915729" cy="12939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D48A3E09-D8FE-FDD0-F861-6F57DDDE3F82}"/>
                </a:ext>
              </a:extLst>
            </p:cNvPr>
            <p:cNvCxnSpPr>
              <a:cxnSpLocks/>
            </p:cNvCxnSpPr>
            <p:nvPr/>
          </p:nvCxnSpPr>
          <p:spPr>
            <a:xfrm>
              <a:off x="6620295" y="4540751"/>
              <a:ext cx="2915729" cy="129396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A831EB3C-E544-9EB9-67B8-F87BE69EA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243247" y="5835445"/>
            <a:ext cx="2831288" cy="36933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none" rtlCol="0">
            <a:spAutoFit/>
          </a:bodyPr>
          <a:lstStyle/>
          <a:p>
            <a:r>
              <a:rPr lang="en-US" b="1" dirty="0"/>
              <a:t>Copies of the MSB (1) Value</a:t>
            </a:r>
          </a:p>
        </p:txBody>
      </p:sp>
    </p:spTree>
    <p:extLst>
      <p:ext uri="{BB962C8B-B14F-4D97-AF65-F5344CB8AC3E}">
        <p14:creationId xmlns:p14="http://schemas.microsoft.com/office/powerpoint/2010/main" val="3489279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0EBC82-E982-D344-B395-6FBCFD27D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Using Right Shift to Divide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EA2DC3B-80CD-B940-879F-BAC03C3C011B}"/>
              </a:ext>
            </a:extLst>
          </p:cNvPr>
          <p:cNvSpPr txBox="1"/>
          <p:nvPr/>
        </p:nvSpPr>
        <p:spPr>
          <a:xfrm>
            <a:off x="9407047" y="365127"/>
            <a:ext cx="1946753" cy="769441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solidFill>
                  <a:srgbClr val="3244CC"/>
                </a:solidFill>
                <a:latin typeface="+mj-lt"/>
              </a:rPr>
              <a:t>(2.1.9)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3F2B816-262B-6F42-8B48-019C1DC3DE1E}"/>
              </a:ext>
            </a:extLst>
          </p:cNvPr>
          <p:cNvSpPr/>
          <p:nvPr/>
        </p:nvSpPr>
        <p:spPr>
          <a:xfrm>
            <a:off x="5143500" y="1682215"/>
            <a:ext cx="1905000" cy="559642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Courier New" panose="02070309020205020404" pitchFamily="49" charset="0"/>
                <a:cs typeface="Courier New" panose="02070309020205020404" pitchFamily="49" charset="0"/>
              </a:rPr>
              <a:t>x &gt;&gt; k</a:t>
            </a:r>
            <a:endParaRPr lang="en-US" sz="36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1DE039-E75B-7940-B670-551F9CB0A93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1267098"/>
                <a:ext cx="10515600" cy="5362302"/>
              </a:xfrm>
            </p:spPr>
            <p:txBody>
              <a:bodyPr anchor="t">
                <a:normAutofit fontScale="92500" lnSpcReduction="10000"/>
              </a:bodyPr>
              <a:lstStyle/>
              <a:p>
                <a:r>
                  <a:rPr lang="en-US" dirty="0"/>
                  <a:t>Right Shifting can also be used for Division by 2</a:t>
                </a:r>
              </a:p>
              <a:p>
                <a:endParaRPr lang="en-US" dirty="0"/>
              </a:p>
              <a:p>
                <a:r>
                  <a:rPr lang="en-US" dirty="0"/>
                  <a:t>Right Shift		</a:t>
                </a:r>
                <a:r>
                  <a:rPr lang="en-US" b="0" dirty="0"/>
                  <a:t>	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b="0" dirty="0"/>
                  <a:t>Every shift to the right by 1 is like dividing the value by 2.</a:t>
                </a:r>
              </a:p>
              <a:p>
                <a:pPr lvl="1" indent="0" algn="ctr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6 &gt;&gt; 1 = 6 / 2 = 3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b="0" dirty="0"/>
                  <a:t>Every shift to the right by k will divide the value by 2</a:t>
                </a:r>
                <a:r>
                  <a:rPr lang="en-US" b="0" baseline="30000" dirty="0"/>
                  <a:t>k</a:t>
                </a:r>
                <a:endParaRPr lang="en-US" b="0" dirty="0"/>
              </a:p>
              <a:p>
                <a:pPr lvl="1" indent="0" algn="ctr">
                  <a:buNone/>
                </a:pP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64 &gt;&gt; 5 = 64 / 2</a:t>
                </a:r>
                <a:r>
                  <a:rPr lang="en-US" baseline="30000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5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 = 64 / 32 = 2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b="0" dirty="0"/>
                  <a:t>However, remember that </a:t>
                </a:r>
                <a:r>
                  <a:rPr lang="en-US" dirty="0"/>
                  <a:t>Integer Division </a:t>
                </a:r>
                <a:r>
                  <a:rPr lang="en-US" b="0" dirty="0"/>
                  <a:t>Truncates Remainders!</a:t>
                </a:r>
              </a:p>
              <a:p>
                <a:pPr marL="1143000" lvl="1" indent="-457200"/>
                <a:r>
                  <a:rPr lang="en-US" b="0" dirty="0"/>
                  <a:t>For a value, the following shows how to take this into account.</a:t>
                </a:r>
              </a:p>
              <a:p>
                <a:pPr lvl="1" indent="0">
                  <a:buNone/>
                </a:pPr>
                <a:endParaRPr lang="en-US" sz="1500" b="0" dirty="0"/>
              </a:p>
              <a:p>
                <a:r>
                  <a:rPr lang="en-US" dirty="0"/>
                  <a:t>Mathematical Equivalence</a:t>
                </a:r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b="0" dirty="0"/>
                  <a:t>Shifting a value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x</a:t>
                </a:r>
                <a:r>
                  <a:rPr lang="en-US" b="0" dirty="0"/>
                  <a:t> right by </a:t>
                </a:r>
                <a:r>
                  <a:rPr lang="en-US" dirty="0">
                    <a:latin typeface="Courier New" panose="02070309020205020404" pitchFamily="49" charset="0"/>
                    <a:cs typeface="Courier New" panose="02070309020205020404" pitchFamily="49" charset="0"/>
                  </a:rPr>
                  <a:t>k</a:t>
                </a:r>
                <a:r>
                  <a:rPr lang="en-US" b="0" dirty="0"/>
                  <a:t> also is equivalent to: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b="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b="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b="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b="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  <m:sup>
                                <m:r>
                                  <a:rPr lang="en-US" b="0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den>
                        </m:f>
                      </m:e>
                    </m:d>
                  </m:oMath>
                </a14:m>
                <a:endParaRPr lang="en-US" dirty="0"/>
              </a:p>
              <a:p>
                <a:r>
                  <a:rPr lang="en-US" dirty="0"/>
                  <a:t>Example with 7 as a </a:t>
                </a:r>
                <a:r>
                  <a:rPr lang="en-US" b="1" dirty="0"/>
                  <a:t>4-bit</a:t>
                </a:r>
                <a:r>
                  <a:rPr lang="en-US" dirty="0"/>
                  <a:t> value, divided by 2</a:t>
                </a:r>
                <a:r>
                  <a:rPr lang="en-US" baseline="30000" dirty="0"/>
                  <a:t>2</a:t>
                </a:r>
                <a:r>
                  <a:rPr lang="en-US" dirty="0"/>
                  <a:t>:  7 &gt;&gt; 4 = 1 </a:t>
                </a:r>
              </a:p>
              <a:p>
                <a:pPr marL="1143000" lvl="1" indent="-457200"/>
                <a:r>
                  <a:rPr lang="en-US" b="0" dirty="0"/>
                  <a:t>Mathematically, the real answer would be 1.75, but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1.75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endParaRPr lang="en-US" b="0" dirty="0"/>
              </a:p>
              <a:p>
                <a:pPr lvl="1" indent="0">
                  <a:buNone/>
                </a:pPr>
                <a:endParaRPr lang="en-US" b="0" baseline="30000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C1DE039-E75B-7940-B670-551F9CB0A93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267098"/>
                <a:ext cx="10515600" cy="5362302"/>
              </a:xfrm>
              <a:blipFill>
                <a:blip r:embed="rId2"/>
                <a:stretch>
                  <a:fillRect l="-1043" t="-2273" b="-181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8FDE38-5115-6D46-93DF-0DF8CD111A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72BEAC-A941-4842-AABB-78258D38CD80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09917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3492</TotalTime>
  <Words>3342</Words>
  <Application>Microsoft Macintosh PowerPoint</Application>
  <PresentationFormat>Widescreen</PresentationFormat>
  <Paragraphs>793</Paragraphs>
  <Slides>27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8" baseType="lpstr">
      <vt:lpstr>Arial</vt:lpstr>
      <vt:lpstr>Calibri</vt:lpstr>
      <vt:lpstr>Calibri Light</vt:lpstr>
      <vt:lpstr>Cambria Math</vt:lpstr>
      <vt:lpstr>Consolas</vt:lpstr>
      <vt:lpstr>Courier</vt:lpstr>
      <vt:lpstr>Courier New</vt:lpstr>
      <vt:lpstr>Gill Sans</vt:lpstr>
      <vt:lpstr>Helvetica</vt:lpstr>
      <vt:lpstr>Menlo</vt:lpstr>
      <vt:lpstr>Office Theme</vt:lpstr>
      <vt:lpstr>Computer Systems and Programming (CS367)</vt:lpstr>
      <vt:lpstr>Reading Ahead of this Lecture</vt:lpstr>
      <vt:lpstr>  Bits and Bytes (Chapter 2.1)</vt:lpstr>
      <vt:lpstr>Everything in a System is just Bits</vt:lpstr>
      <vt:lpstr>Main Points</vt:lpstr>
      <vt:lpstr>Boolean Algebra</vt:lpstr>
      <vt:lpstr>Boolean Algebra (Logical Operations)</vt:lpstr>
      <vt:lpstr>Boolean Algebra (Logical Operations)</vt:lpstr>
      <vt:lpstr>Boolean Algebra (Bitwise Operations)</vt:lpstr>
      <vt:lpstr>Boolean Algebra (Bitwise Operations)</vt:lpstr>
      <vt:lpstr>General Boolean Expressions</vt:lpstr>
      <vt:lpstr>General Boolean Expressions</vt:lpstr>
      <vt:lpstr>Bitwise Expressions in C</vt:lpstr>
      <vt:lpstr>Bitwise Expressions in C</vt:lpstr>
      <vt:lpstr>Example: Representing Sets</vt:lpstr>
      <vt:lpstr>Bitwise Masking</vt:lpstr>
      <vt:lpstr>Bitwise Masking</vt:lpstr>
      <vt:lpstr>Bitwise Masking</vt:lpstr>
      <vt:lpstr>Bitwise Reading</vt:lpstr>
      <vt:lpstr>Bitwise Reading</vt:lpstr>
      <vt:lpstr>Bitwise Combining</vt:lpstr>
      <vt:lpstr>Shift Operations (Left Shift)</vt:lpstr>
      <vt:lpstr>Using Left Shift to Multiply</vt:lpstr>
      <vt:lpstr>Shift Operations (Right Shift)</vt:lpstr>
      <vt:lpstr>Shift Operations (Unsigned Right Shift)</vt:lpstr>
      <vt:lpstr>Shift Operations (Signed Right Shift)</vt:lpstr>
      <vt:lpstr>Using Right Shift to Divide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Andrea</dc:creator>
  <cp:lastModifiedBy>Kevin M Andrea</cp:lastModifiedBy>
  <cp:revision>541</cp:revision>
  <cp:lastPrinted>2019-09-02T19:29:19Z</cp:lastPrinted>
  <dcterms:created xsi:type="dcterms:W3CDTF">2019-01-18T20:51:16Z</dcterms:created>
  <dcterms:modified xsi:type="dcterms:W3CDTF">2023-08-21T20:17:13Z</dcterms:modified>
</cp:coreProperties>
</file>